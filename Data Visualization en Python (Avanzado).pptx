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17.xml"/>
  <Override ContentType="application/vnd.openxmlformats-officedocument.presentationml.comments+xml" PartName="/ppt/comments/comment8.xml"/>
  <Override ContentType="application/vnd.openxmlformats-officedocument.presentationml.comments+xml" PartName="/ppt/comments/comment6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5.xml"/>
  <Override ContentType="application/vnd.openxmlformats-officedocument.presentationml.comments+xml" PartName="/ppt/comments/comment13.xml"/>
  <Override ContentType="application/vnd.openxmlformats-officedocument.presentationml.comments+xml" PartName="/ppt/comments/comment16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18.xml"/>
  <Override ContentType="application/vnd.openxmlformats-officedocument.presentationml.comments+xml" PartName="/ppt/comments/comment12.xml"/>
  <Override ContentType="application/vnd.openxmlformats-officedocument.presentationml.comments+xml" PartName="/ppt/comments/comment1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Roboto Mono Medium"/>
      <p:regular r:id="rId27"/>
      <p:bold r:id="rId28"/>
      <p:italic r:id="rId29"/>
      <p:boldItalic r:id="rId30"/>
    </p:embeddedFont>
    <p:embeddedFont>
      <p:font typeface="Inter SemiBold"/>
      <p:regular r:id="rId31"/>
      <p:bold r:id="rId32"/>
      <p:italic r:id="rId33"/>
      <p:boldItalic r:id="rId34"/>
    </p:embeddedFont>
    <p:embeddedFont>
      <p:font typeface="Montserrat"/>
      <p:bold r:id="rId35"/>
      <p:boldItalic r:id="rId36"/>
    </p:embeddedFont>
    <p:embeddedFont>
      <p:font typeface="Inter"/>
      <p:bold r:id="rId37"/>
      <p:boldItalic r:id="rId38"/>
    </p:embeddedFont>
    <p:embeddedFont>
      <p:font typeface="Fira Code Medium"/>
      <p:regular r:id="rId39"/>
      <p:bold r:id="rId40"/>
    </p:embeddedFont>
    <p:embeddedFont>
      <p:font typeface="Fira Code"/>
      <p:regular r:id="rId41"/>
      <p:bold r:id="rId42"/>
    </p:embeddedFont>
    <p:embeddedFont>
      <p:font typeface="Roboto Mono"/>
      <p:regular r:id="rId43"/>
      <p:bold r:id="rId44"/>
      <p:italic r:id="rId45"/>
      <p:boldItalic r:id="rId46"/>
    </p:embeddedFont>
    <p:embeddedFont>
      <p:font typeface="Inter Medium"/>
      <p:regular r:id="rId47"/>
      <p:bold r:id="rId48"/>
      <p:italic r:id="rId49"/>
      <p:boldItalic r:id="rId50"/>
    </p:embeddedFont>
    <p:embeddedFont>
      <p:font typeface="Open Sans"/>
      <p:regular r:id="rId51"/>
      <p:bold r:id="rId52"/>
      <p:italic r:id="rId53"/>
      <p:boldItalic r:id="rId54"/>
    </p:embeddedFont>
    <p:embeddedFont>
      <p:font typeface="Space Grotesk"/>
      <p:bold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8" name="Ortiz Valentin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CodeMedium-bold.fntdata"/><Relationship Id="rId42" Type="http://schemas.openxmlformats.org/officeDocument/2006/relationships/font" Target="fonts/FiraCode-bold.fntdata"/><Relationship Id="rId41" Type="http://schemas.openxmlformats.org/officeDocument/2006/relationships/font" Target="fonts/FiraCode-regular.fntdata"/><Relationship Id="rId44" Type="http://schemas.openxmlformats.org/officeDocument/2006/relationships/font" Target="fonts/RobotoMono-bold.fntdata"/><Relationship Id="rId43" Type="http://schemas.openxmlformats.org/officeDocument/2006/relationships/font" Target="fonts/RobotoMono-regular.fntdata"/><Relationship Id="rId46" Type="http://schemas.openxmlformats.org/officeDocument/2006/relationships/font" Target="fonts/RobotoMono-boldItalic.fntdata"/><Relationship Id="rId45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48" Type="http://schemas.openxmlformats.org/officeDocument/2006/relationships/font" Target="fonts/InterMedium-bold.fntdata"/><Relationship Id="rId47" Type="http://schemas.openxmlformats.org/officeDocument/2006/relationships/font" Target="fonts/InterMedium-regular.fntdata"/><Relationship Id="rId49" Type="http://schemas.openxmlformats.org/officeDocument/2006/relationships/font" Target="fonts/Inter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regular.fntdata"/><Relationship Id="rId30" Type="http://schemas.openxmlformats.org/officeDocument/2006/relationships/font" Target="fonts/RobotoMonoMedium-boldItalic.fntdata"/><Relationship Id="rId33" Type="http://schemas.openxmlformats.org/officeDocument/2006/relationships/font" Target="fonts/InterSemiBold-italic.fntdata"/><Relationship Id="rId32" Type="http://schemas.openxmlformats.org/officeDocument/2006/relationships/font" Target="fonts/InterSemiBold-bold.fntdata"/><Relationship Id="rId35" Type="http://schemas.openxmlformats.org/officeDocument/2006/relationships/font" Target="fonts/Montserrat-bold.fntdata"/><Relationship Id="rId34" Type="http://schemas.openxmlformats.org/officeDocument/2006/relationships/font" Target="fonts/InterSemiBold-boldItalic.fntdata"/><Relationship Id="rId37" Type="http://schemas.openxmlformats.org/officeDocument/2006/relationships/font" Target="fonts/Inter-bold.fntdata"/><Relationship Id="rId36" Type="http://schemas.openxmlformats.org/officeDocument/2006/relationships/font" Target="fonts/Montserrat-boldItalic.fntdata"/><Relationship Id="rId39" Type="http://schemas.openxmlformats.org/officeDocument/2006/relationships/font" Target="fonts/FiraCodeMedium-regular.fntdata"/><Relationship Id="rId38" Type="http://schemas.openxmlformats.org/officeDocument/2006/relationships/font" Target="fonts/Inter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MonoMedium-bold.fntdata"/><Relationship Id="rId27" Type="http://schemas.openxmlformats.org/officeDocument/2006/relationships/font" Target="fonts/RobotoMonoMedium-regular.fntdata"/><Relationship Id="rId29" Type="http://schemas.openxmlformats.org/officeDocument/2006/relationships/font" Target="fonts/RobotoMonoMedium-italic.fntdata"/><Relationship Id="rId51" Type="http://schemas.openxmlformats.org/officeDocument/2006/relationships/font" Target="fonts/OpenSans-regular.fntdata"/><Relationship Id="rId50" Type="http://schemas.openxmlformats.org/officeDocument/2006/relationships/font" Target="fonts/InterMedium-boldItalic.fntdata"/><Relationship Id="rId53" Type="http://schemas.openxmlformats.org/officeDocument/2006/relationships/font" Target="fonts/OpenSans-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5.xml"/><Relationship Id="rId55" Type="http://schemas.openxmlformats.org/officeDocument/2006/relationships/font" Target="fonts/SpaceGrotesk-bold.fntdata"/><Relationship Id="rId10" Type="http://schemas.openxmlformats.org/officeDocument/2006/relationships/slide" Target="slides/slide4.xml"/><Relationship Id="rId54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09T00:08:29.522">
    <p:pos x="6000" y="0"/>
    <p:text>Laureano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10-09T00:08:32.342">
    <p:pos x="6000" y="0"/>
    <p:text>Laureano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10-09T00:08:35.843">
    <p:pos x="6000" y="0"/>
    <p:text>Laureano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10-09T00:08:57.374">
    <p:pos x="6000" y="0"/>
    <p:text>Laureano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10-09T00:10:44.668">
    <p:pos x="6000" y="0"/>
    <p:text>Valentino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10-09T00:10:48.884">
    <p:pos x="6000" y="0"/>
    <p:text>Valentino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6-10-09T00:10:53.054">
    <p:pos x="6000" y="0"/>
    <p:text>Valentino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10-09T00:10:56.294">
    <p:pos x="6000" y="0"/>
    <p:text>Valentino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6-10-09T00:11:00.585">
    <p:pos x="6000" y="0"/>
    <p:text>Valentino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6-10-09T00:11:05.707">
    <p:pos x="6000" y="0"/>
    <p:text>Valentino</p:tex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6-10-09T00:11:08.625">
    <p:pos x="6000" y="0"/>
    <p:text>Valentino</p:tex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6-10-09T00:11:13.800">
    <p:pos x="6000" y="0"/>
    <p:text>Facundo</p:text>
  </p:cm>
</p:cmLst>
</file>

<file path=ppt/comments/comment1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6-10-09T00:11:19.483">
    <p:pos x="6000" y="0"/>
    <p:text>Facundo</p:text>
  </p:cm>
</p:cmLst>
</file>

<file path=ppt/comments/comment1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4" dt="2026-10-09T00:11:23.017">
    <p:pos x="6000" y="0"/>
    <p:text>Facundo</p:text>
  </p:cm>
</p:cmLst>
</file>

<file path=ppt/comments/comment1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5" dt="2026-10-09T00:11:27.733">
    <p:pos x="6000" y="0"/>
    <p:text>Facundo</p:text>
  </p:cm>
</p:cmLst>
</file>

<file path=ppt/comments/comment1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6" dt="2026-10-09T00:11:30.769">
    <p:pos x="6000" y="0"/>
    <p:text>Facundo</p:text>
  </p:cm>
</p:cmLst>
</file>

<file path=ppt/comments/comment1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7" dt="2026-10-09T00:10:23.267">
    <p:pos x="6000" y="0"/>
    <p:text>Laureano</p:text>
  </p:cm>
</p:cmLst>
</file>

<file path=ppt/comments/comment1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8" dt="2026-10-09T00:10:26.939">
    <p:pos x="6000" y="0"/>
    <p:text>Laureano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6a4d4852a83b7149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6a4d4852a83b714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6a4d4852a83b7149_0_2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6a4d4852a83b7149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6a4d4852a83b7149_0_4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6a4d4852a83b7149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6a4d4852a83b7149_0_9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6a4d4852a83b7149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6a4d4852a83b7149_0_1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6a4d4852a83b7149_0_1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f543aa10d331471_0_35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hf543aa10d331471_0_3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6a4d4852a83b7149_0_13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h6a4d4852a83b7149_0_1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f543aa10d331471_0_3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hf543aa10d331471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f543aa10d331471_0_5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f543aa10d331471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hf543aa10d331471_0_7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hf543aa10d331471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hf543aa10d331471_0_9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hf543aa10d331471_0_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h6a4d4852a83b7149_0_27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h6a4d4852a83b7149_0_2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h6a4d4852a83b7149_0_29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h6a4d4852a83b7149_0_2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hf543aa10d331471_0_3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hf543aa10d331471_0_3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hf543aa10d331471_0_18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hf543aa10d331471_0_1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hf543aa10d331471_0_20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hf543aa10d331471_0_2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hf543aa10d331471_0_22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hf543aa10d331471_0_2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hf543aa10d331471_0_24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hf543aa10d331471_0_2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hf543aa10d331471_0_30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hf543aa10d331471_0_3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hf543aa10d331471_0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hf543aa10d331471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6a4d4852a83b7149_10_0)">
  <p:cSld name="Generated (h6a4d4852a83b7149_10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3.xml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4.xml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5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6.xml"/><Relationship Id="rId4" Type="http://schemas.openxmlformats.org/officeDocument/2006/relationships/image" Target="../media/image14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7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8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9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10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11.xml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12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13.xml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14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15.xml"/><Relationship Id="rId4" Type="http://schemas.openxmlformats.org/officeDocument/2006/relationships/image" Target="../media/image14.png"/><Relationship Id="rId5" Type="http://schemas.openxmlformats.org/officeDocument/2006/relationships/hyperlink" Target="http://drive.google.com/file/d/167nGowF6Q-QB72MMieuTx_qr9OTS4a8c/view" TargetMode="External"/><Relationship Id="rId6" Type="http://schemas.openxmlformats.org/officeDocument/2006/relationships/image" Target="../media/image1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16.xml"/><Relationship Id="rId4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17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comments" Target="../comments/comment18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32.png"/><Relationship Id="rId6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4"/>
          <p:cNvGrpSpPr/>
          <p:nvPr/>
        </p:nvGrpSpPr>
        <p:grpSpPr>
          <a:xfrm>
            <a:off x="952500" y="1714500"/>
            <a:ext cx="6667500" cy="4381500"/>
            <a:chOff x="952500" y="1714500"/>
            <a:chExt cx="6667500" cy="4381500"/>
          </a:xfrm>
        </p:grpSpPr>
        <p:sp>
          <p:nvSpPr>
            <p:cNvPr id="86" name="Google Shape;86;p14"/>
            <p:cNvSpPr txBox="1"/>
            <p:nvPr/>
          </p:nvSpPr>
          <p:spPr>
            <a:xfrm>
              <a:off x="952500" y="1714500"/>
              <a:ext cx="6667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</a:t>
              </a:r>
              <a:r>
                <a:rPr b="1" lang="en-US" sz="4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V</a:t>
              </a:r>
              <a:r>
                <a:rPr b="1" lang="en-US" sz="4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isualization en Python</a:t>
              </a:r>
              <a:endParaRPr b="1" sz="4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" name="Google Shape;87;p14"/>
            <p:cNvSpPr txBox="1"/>
            <p:nvPr/>
          </p:nvSpPr>
          <p:spPr>
            <a:xfrm>
              <a:off x="952500" y="3143250"/>
              <a:ext cx="6667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E2E8F0"/>
                  </a:solidFill>
                  <a:latin typeface="Open Sans"/>
                  <a:ea typeface="Open Sans"/>
                  <a:cs typeface="Open Sans"/>
                  <a:sym typeface="Open Sans"/>
                </a:rPr>
                <a:t>Arquitectura, historia y ecosistema del análisis visual</a:t>
              </a:r>
              <a:endParaRPr b="0" sz="2200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8" name="Google Shape;88;p14"/>
            <p:cNvSpPr txBox="1"/>
            <p:nvPr/>
          </p:nvSpPr>
          <p:spPr>
            <a:xfrm>
              <a:off x="952500" y="5334000"/>
              <a:ext cx="571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Valentino Ortiz · Laureano Oliva · Facundo Ramirez</a:t>
              </a:r>
              <a:endParaRPr b="0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4A3B8"/>
                  </a:solidFill>
                  <a:latin typeface="Open Sans"/>
                  <a:ea typeface="Open Sans"/>
                  <a:cs typeface="Open Sans"/>
                  <a:sym typeface="Open Sans"/>
                </a:rPr>
                <a:t>UTN FRRo · Seminario</a:t>
              </a:r>
              <a:r>
                <a:rPr b="0" lang="en-US" sz="1400">
                  <a:solidFill>
                    <a:srgbClr val="94A3B8"/>
                  </a:solidFill>
                  <a:latin typeface="Open Sans"/>
                  <a:ea typeface="Open Sans"/>
                  <a:cs typeface="Open Sans"/>
                  <a:sym typeface="Open Sans"/>
                </a:rPr>
                <a:t> técnico </a:t>
              </a:r>
              <a:r>
                <a:rPr b="0" lang="en-US" sz="1400">
                  <a:solidFill>
                    <a:srgbClr val="94A3B8"/>
                  </a:solidFill>
                  <a:latin typeface="Open Sans"/>
                  <a:ea typeface="Open Sans"/>
                  <a:cs typeface="Open Sans"/>
                  <a:sym typeface="Open Sans"/>
                </a:rPr>
                <a:t>· 2026</a:t>
              </a:r>
              <a:endParaRPr b="0" sz="14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9" name="Google Shape;89;p14"/>
          <p:cNvGrpSpPr/>
          <p:nvPr/>
        </p:nvGrpSpPr>
        <p:grpSpPr>
          <a:xfrm>
            <a:off x="7743825" y="1647825"/>
            <a:ext cx="3943500" cy="3224100"/>
            <a:chOff x="-66675" y="123825"/>
            <a:chExt cx="3943500" cy="3224100"/>
          </a:xfrm>
        </p:grpSpPr>
        <p:pic>
          <p:nvPicPr>
            <p:cNvPr id="90" name="Google Shape;90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466725"/>
              <a:ext cx="3833700" cy="2881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4"/>
            <p:cNvSpPr/>
            <p:nvPr/>
          </p:nvSpPr>
          <p:spPr>
            <a:xfrm>
              <a:off x="0" y="190500"/>
              <a:ext cx="3810000" cy="26670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24000" y="85714"/>
                  </a:lnTo>
                  <a:lnTo>
                    <a:pt x="48000" y="98571"/>
                  </a:lnTo>
                  <a:lnTo>
                    <a:pt x="72000" y="34286"/>
                  </a:lnTo>
                  <a:lnTo>
                    <a:pt x="96000" y="6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28575">
              <a:solidFill>
                <a:srgbClr val="F585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-66675" y="2790825"/>
              <a:ext cx="133500" cy="133500"/>
            </a:xfrm>
            <a:prstGeom prst="ellipse">
              <a:avLst/>
            </a:prstGeom>
            <a:solidFill>
              <a:srgbClr val="636E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695325" y="2028825"/>
              <a:ext cx="133500" cy="133500"/>
            </a:xfrm>
            <a:prstGeom prst="ellipse">
              <a:avLst/>
            </a:prstGeom>
            <a:solidFill>
              <a:srgbClr val="F585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1457325" y="2314575"/>
              <a:ext cx="133500" cy="13350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2219325" y="885825"/>
              <a:ext cx="133500" cy="133500"/>
            </a:xfrm>
            <a:prstGeom prst="ellipse">
              <a:avLst/>
            </a:prstGeom>
            <a:solidFill>
              <a:srgbClr val="636E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2981325" y="1457325"/>
              <a:ext cx="133500" cy="133500"/>
            </a:xfrm>
            <a:prstGeom prst="ellipse">
              <a:avLst/>
            </a:prstGeom>
            <a:solidFill>
              <a:srgbClr val="F585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3743325" y="123825"/>
              <a:ext cx="133500" cy="13350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5"/>
          <p:cNvGrpSpPr/>
          <p:nvPr/>
        </p:nvGrpSpPr>
        <p:grpSpPr>
          <a:xfrm>
            <a:off x="609600" y="495300"/>
            <a:ext cx="10972800" cy="705000"/>
            <a:chOff x="609600" y="495300"/>
            <a:chExt cx="10972800" cy="705000"/>
          </a:xfrm>
        </p:grpSpPr>
        <p:sp>
          <p:nvSpPr>
            <p:cNvPr id="103" name="Google Shape;103;p15"/>
            <p:cNvSpPr txBox="1"/>
            <p:nvPr/>
          </p:nvSpPr>
          <p:spPr>
            <a:xfrm>
              <a:off x="609600" y="495300"/>
              <a:ext cx="10972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ESTRUCTURA Y METAS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609600" y="723900"/>
              <a:ext cx="10972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6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Objetivos del seminario</a:t>
              </a:r>
              <a:endParaRPr b="1" sz="296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05" name="Google Shape;105;p15"/>
          <p:cNvGrpSpPr/>
          <p:nvPr/>
        </p:nvGrpSpPr>
        <p:grpSpPr>
          <a:xfrm>
            <a:off x="604838" y="1519238"/>
            <a:ext cx="10982400" cy="4676700"/>
            <a:chOff x="604838" y="1519238"/>
            <a:chExt cx="10982400" cy="4676700"/>
          </a:xfrm>
        </p:grpSpPr>
        <p:grpSp>
          <p:nvGrpSpPr>
            <p:cNvPr id="106" name="Google Shape;106;p15"/>
            <p:cNvGrpSpPr/>
            <p:nvPr/>
          </p:nvGrpSpPr>
          <p:grpSpPr>
            <a:xfrm>
              <a:off x="604838" y="1519238"/>
              <a:ext cx="10982400" cy="1438200"/>
              <a:chOff x="-4762" y="-4762"/>
              <a:chExt cx="10982400" cy="1438200"/>
            </a:xfrm>
          </p:grpSpPr>
          <p:pic>
            <p:nvPicPr>
              <p:cNvPr id="107" name="Google Shape;107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0" y="0"/>
                <a:ext cx="10972800" cy="1428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" name="Google Shape;108;p1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10982400" cy="1438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9" name="Google Shape;109;p15"/>
              <p:cNvSpPr/>
              <p:nvPr/>
            </p:nvSpPr>
            <p:spPr>
              <a:xfrm>
                <a:off x="0" y="0"/>
                <a:ext cx="57300" cy="1428900"/>
              </a:xfrm>
              <a:prstGeom prst="roundRect">
                <a:avLst>
                  <a:gd fmla="val 50000" name="adj"/>
                </a:avLst>
              </a:prstGeom>
              <a:solidFill>
                <a:srgbClr val="3B6EA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5"/>
              <p:cNvSpPr txBox="1"/>
              <p:nvPr/>
            </p:nvSpPr>
            <p:spPr>
              <a:xfrm>
                <a:off x="304800" y="0"/>
                <a:ext cx="7620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3B6EA5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01</a:t>
                </a:r>
                <a:endParaRPr b="1" sz="4200">
                  <a:solidFill>
                    <a:srgbClr val="3B6EA5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11" name="Google Shape;111;p15"/>
              <p:cNvSpPr txBox="1"/>
              <p:nvPr/>
            </p:nvSpPr>
            <p:spPr>
              <a:xfrm>
                <a:off x="1143000" y="0"/>
                <a:ext cx="9334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Comprender la arquitectura interna</a:t>
                </a:r>
                <a:endParaRPr b="1" sz="16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Capas, objetos y flujo de renderizado de Matplotlib, Seaborn y Plotly.</a:t>
                </a:r>
                <a:endParaRPr b="0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2" name="Google Shape;112;p15"/>
            <p:cNvGrpSpPr/>
            <p:nvPr/>
          </p:nvGrpSpPr>
          <p:grpSpPr>
            <a:xfrm>
              <a:off x="604838" y="3138488"/>
              <a:ext cx="10982400" cy="1438200"/>
              <a:chOff x="-4762" y="-4762"/>
              <a:chExt cx="10982400" cy="1438200"/>
            </a:xfrm>
          </p:grpSpPr>
          <p:pic>
            <p:nvPicPr>
              <p:cNvPr id="113" name="Google Shape;113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0" y="0"/>
                <a:ext cx="10972800" cy="1428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" name="Google Shape;114;p1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10982400" cy="1438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5" name="Google Shape;115;p15"/>
              <p:cNvSpPr/>
              <p:nvPr/>
            </p:nvSpPr>
            <p:spPr>
              <a:xfrm>
                <a:off x="0" y="0"/>
                <a:ext cx="57300" cy="1428900"/>
              </a:xfrm>
              <a:prstGeom prst="roundRect">
                <a:avLst>
                  <a:gd fmla="val 50000" name="adj"/>
                </a:avLst>
              </a:prstGeom>
              <a:solidFill>
                <a:srgbClr val="3B6EA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5"/>
              <p:cNvSpPr txBox="1"/>
              <p:nvPr/>
            </p:nvSpPr>
            <p:spPr>
              <a:xfrm>
                <a:off x="304800" y="0"/>
                <a:ext cx="7620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3B6EA5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02</a:t>
                </a:r>
                <a:endParaRPr b="1" sz="4200">
                  <a:solidFill>
                    <a:srgbClr val="3B6EA5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17" name="Google Shape;117;p15"/>
              <p:cNvSpPr txBox="1"/>
              <p:nvPr/>
            </p:nvSpPr>
            <p:spPr>
              <a:xfrm>
                <a:off x="1143000" y="0"/>
                <a:ext cx="9334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Diferenciar paradigmas</a:t>
                </a:r>
                <a:endParaRPr b="1" sz="16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Procedimental, orientado a objetos, agregación estadística y serialización a JSON.</a:t>
                </a:r>
                <a:endParaRPr b="0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8" name="Google Shape;118;p15"/>
            <p:cNvGrpSpPr/>
            <p:nvPr/>
          </p:nvGrpSpPr>
          <p:grpSpPr>
            <a:xfrm>
              <a:off x="604838" y="4757738"/>
              <a:ext cx="10982400" cy="1438200"/>
              <a:chOff x="-4762" y="-4762"/>
              <a:chExt cx="10982400" cy="1438200"/>
            </a:xfrm>
          </p:grpSpPr>
          <p:pic>
            <p:nvPicPr>
              <p:cNvPr id="119" name="Google Shape;119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0" y="0"/>
                <a:ext cx="10972800" cy="1428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0" name="Google Shape;120;p1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10982400" cy="1438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1" name="Google Shape;121;p15"/>
              <p:cNvSpPr/>
              <p:nvPr/>
            </p:nvSpPr>
            <p:spPr>
              <a:xfrm>
                <a:off x="0" y="0"/>
                <a:ext cx="57300" cy="1428900"/>
              </a:xfrm>
              <a:prstGeom prst="roundRect">
                <a:avLst>
                  <a:gd fmla="val 50000" name="adj"/>
                </a:avLst>
              </a:prstGeom>
              <a:solidFill>
                <a:srgbClr val="3B6EA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5"/>
              <p:cNvSpPr txBox="1"/>
              <p:nvPr/>
            </p:nvSpPr>
            <p:spPr>
              <a:xfrm>
                <a:off x="304800" y="0"/>
                <a:ext cx="7620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3B6EA5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03</a:t>
                </a:r>
                <a:endParaRPr b="1" sz="4200">
                  <a:solidFill>
                    <a:srgbClr val="3B6EA5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23" name="Google Shape;123;p15"/>
              <p:cNvSpPr txBox="1"/>
              <p:nvPr/>
            </p:nvSpPr>
            <p:spPr>
              <a:xfrm>
                <a:off x="1143000" y="0"/>
                <a:ext cx="9334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Elegir con criterio técnico</a:t>
                </a:r>
                <a:endParaRPr b="1" sz="16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Qué herramienta usar según la restricción: PDF, exploración rápida o tablero interactivo.</a:t>
                </a:r>
                <a:endParaRPr b="0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/>
        </p:nvSpPr>
        <p:spPr>
          <a:xfrm>
            <a:off x="609600" y="495300"/>
            <a:ext cx="1097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PERSPECTIVA HISTÓRICA</a:t>
            </a:r>
            <a:endParaRPr b="1" sz="10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609600" y="762000"/>
            <a:ext cx="10972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 Tufte a Matplotlib: una breve historia</a:t>
            </a:r>
            <a:endParaRPr b="1" sz="32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130" name="Google Shape;130;p16"/>
          <p:cNvCxnSpPr/>
          <p:nvPr/>
        </p:nvCxnSpPr>
        <p:spPr>
          <a:xfrm>
            <a:off x="952500" y="2667000"/>
            <a:ext cx="10287000" cy="0"/>
          </a:xfrm>
          <a:prstGeom prst="straightConnector1">
            <a:avLst/>
          </a:prstGeom>
          <a:solidFill>
            <a:srgbClr val="FFFFFF"/>
          </a:solidFill>
          <a:ln cap="rnd" cmpd="sng" w="38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1" name="Google Shape;131;p16"/>
          <p:cNvGrpSpPr/>
          <p:nvPr/>
        </p:nvGrpSpPr>
        <p:grpSpPr>
          <a:xfrm>
            <a:off x="661988" y="1619250"/>
            <a:ext cx="2862413" cy="3605288"/>
            <a:chOff x="-290512" y="-1047750"/>
            <a:chExt cx="2862413" cy="3605288"/>
          </a:xfrm>
        </p:grpSpPr>
        <p:cxnSp>
          <p:nvCxnSpPr>
            <p:cNvPr id="132" name="Google Shape;132;p16"/>
            <p:cNvCxnSpPr/>
            <p:nvPr/>
          </p:nvCxnSpPr>
          <p:spPr>
            <a:xfrm>
              <a:off x="0" y="0"/>
              <a:ext cx="2571900" cy="0"/>
            </a:xfrm>
            <a:prstGeom prst="straightConnector1">
              <a:avLst/>
            </a:prstGeom>
            <a:solidFill>
              <a:srgbClr val="FFFFFF"/>
            </a:solidFill>
            <a:ln cap="rnd" cmpd="sng" w="38100">
              <a:solidFill>
                <a:srgbClr val="3B6EA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" name="Google Shape;133;p16"/>
            <p:cNvSpPr/>
            <p:nvPr/>
          </p:nvSpPr>
          <p:spPr>
            <a:xfrm>
              <a:off x="-152400" y="-152400"/>
              <a:ext cx="304800" cy="304800"/>
            </a:xfrm>
            <a:prstGeom prst="ellipse">
              <a:avLst/>
            </a:prstGeom>
            <a:solidFill>
              <a:srgbClr val="F8FAFC"/>
            </a:solidFill>
            <a:ln cap="flat" cmpd="sng" w="38100">
              <a:solidFill>
                <a:srgbClr val="3B6E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-57150" y="-57150"/>
              <a:ext cx="114300" cy="114300"/>
            </a:xfrm>
            <a:prstGeom prst="ellipse">
              <a:avLst/>
            </a:prstGeom>
            <a:solidFill>
              <a:srgbClr val="3B6E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-190500" y="-10477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3B6EA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1983</a:t>
              </a:r>
              <a:endParaRPr b="1" sz="2400">
                <a:solidFill>
                  <a:srgbClr val="3B6EA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6" name="Google Shape;136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290512" y="185738"/>
              <a:ext cx="2657400" cy="2371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16"/>
            <p:cNvSpPr txBox="1"/>
            <p:nvPr/>
          </p:nvSpPr>
          <p:spPr>
            <a:xfrm>
              <a:off x="0" y="438150"/>
              <a:ext cx="2076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Edward Tufte publica </a:t>
              </a:r>
              <a:r>
                <a:rPr b="0" i="1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Visual Display of Quantitative Information</a:t>
              </a: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: gráficos honestos, limpios y sin adornos.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3233738" y="1619250"/>
            <a:ext cx="2862413" cy="3605288"/>
            <a:chOff x="-290512" y="-1047750"/>
            <a:chExt cx="2862413" cy="3605288"/>
          </a:xfrm>
        </p:grpSpPr>
        <p:cxnSp>
          <p:nvCxnSpPr>
            <p:cNvPr id="139" name="Google Shape;139;p16"/>
            <p:cNvCxnSpPr/>
            <p:nvPr/>
          </p:nvCxnSpPr>
          <p:spPr>
            <a:xfrm>
              <a:off x="0" y="0"/>
              <a:ext cx="2571900" cy="0"/>
            </a:xfrm>
            <a:prstGeom prst="straightConnector1">
              <a:avLst/>
            </a:prstGeom>
            <a:solidFill>
              <a:srgbClr val="FFFFFF"/>
            </a:solidFill>
            <a:ln cap="rnd" cmpd="sng" w="38100">
              <a:solidFill>
                <a:srgbClr val="3B6EA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0" name="Google Shape;140;p16"/>
            <p:cNvSpPr/>
            <p:nvPr/>
          </p:nvSpPr>
          <p:spPr>
            <a:xfrm>
              <a:off x="-152400" y="-152400"/>
              <a:ext cx="304800" cy="304800"/>
            </a:xfrm>
            <a:prstGeom prst="ellipse">
              <a:avLst/>
            </a:prstGeom>
            <a:solidFill>
              <a:srgbClr val="F8FAFC"/>
            </a:solidFill>
            <a:ln cap="flat" cmpd="sng" w="38100">
              <a:solidFill>
                <a:srgbClr val="3B6E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-57150" y="-57150"/>
              <a:ext cx="114300" cy="114300"/>
            </a:xfrm>
            <a:prstGeom prst="ellipse">
              <a:avLst/>
            </a:prstGeom>
            <a:solidFill>
              <a:srgbClr val="3B6E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-190500" y="-10477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3B6EA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2000’s</a:t>
              </a:r>
              <a:endParaRPr b="1" sz="2400">
                <a:solidFill>
                  <a:srgbClr val="3B6EA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3" name="Google Shape;143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290512" y="185738"/>
              <a:ext cx="2657400" cy="2371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16"/>
            <p:cNvSpPr txBox="1"/>
            <p:nvPr/>
          </p:nvSpPr>
          <p:spPr>
            <a:xfrm>
              <a:off x="0" y="438150"/>
              <a:ext cx="2076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MATLAB es el estándar para graficar: producto comercial y de código cerrado.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" name="Google Shape;145;p16"/>
          <p:cNvGrpSpPr/>
          <p:nvPr/>
        </p:nvGrpSpPr>
        <p:grpSpPr>
          <a:xfrm>
            <a:off x="5795963" y="1619250"/>
            <a:ext cx="2871938" cy="3614663"/>
            <a:chOff x="-300037" y="-1047750"/>
            <a:chExt cx="2871938" cy="3614663"/>
          </a:xfrm>
        </p:grpSpPr>
        <p:cxnSp>
          <p:nvCxnSpPr>
            <p:cNvPr id="146" name="Google Shape;146;p16"/>
            <p:cNvCxnSpPr/>
            <p:nvPr/>
          </p:nvCxnSpPr>
          <p:spPr>
            <a:xfrm>
              <a:off x="0" y="0"/>
              <a:ext cx="2571900" cy="0"/>
            </a:xfrm>
            <a:prstGeom prst="straightConnector1">
              <a:avLst/>
            </a:prstGeom>
            <a:solidFill>
              <a:srgbClr val="FFFFFF"/>
            </a:solidFill>
            <a:ln cap="rnd" cmpd="sng" w="38100">
              <a:solidFill>
                <a:srgbClr val="F5851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" name="Google Shape;147;p16"/>
            <p:cNvSpPr/>
            <p:nvPr/>
          </p:nvSpPr>
          <p:spPr>
            <a:xfrm>
              <a:off x="-171450" y="-171450"/>
              <a:ext cx="342900" cy="342900"/>
            </a:xfrm>
            <a:prstGeom prst="ellipse">
              <a:avLst/>
            </a:prstGeom>
            <a:solidFill>
              <a:srgbClr val="F8FAFC"/>
            </a:solidFill>
            <a:ln cap="flat" cmpd="sng" w="47625">
              <a:solidFill>
                <a:srgbClr val="F585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-66675" y="-66675"/>
              <a:ext cx="133500" cy="133500"/>
            </a:xfrm>
            <a:prstGeom prst="ellipse">
              <a:avLst/>
            </a:prstGeom>
            <a:solidFill>
              <a:srgbClr val="F585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-190500" y="-10477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5851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2003</a:t>
              </a:r>
              <a:endParaRPr b="1" sz="2400">
                <a:solidFill>
                  <a:srgbClr val="F5851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0" name="Google Shape;150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300037" y="176213"/>
              <a:ext cx="2676600" cy="2390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16"/>
            <p:cNvSpPr txBox="1"/>
            <p:nvPr/>
          </p:nvSpPr>
          <p:spPr>
            <a:xfrm>
              <a:off x="0" y="438150"/>
              <a:ext cx="2076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John D. Hunter</a:t>
              </a: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neurobiólogo, crea Matplotlib en Python imitando los comandos de MATLAB.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2" name="Google Shape;152;p16"/>
          <p:cNvGrpSpPr/>
          <p:nvPr/>
        </p:nvGrpSpPr>
        <p:grpSpPr>
          <a:xfrm>
            <a:off x="8377238" y="1619250"/>
            <a:ext cx="2657400" cy="3605288"/>
            <a:chOff x="-290512" y="-1047750"/>
            <a:chExt cx="2657400" cy="3605288"/>
          </a:xfrm>
        </p:grpSpPr>
        <p:sp>
          <p:nvSpPr>
            <p:cNvPr id="153" name="Google Shape;153;p16"/>
            <p:cNvSpPr/>
            <p:nvPr/>
          </p:nvSpPr>
          <p:spPr>
            <a:xfrm>
              <a:off x="-152400" y="-152400"/>
              <a:ext cx="304800" cy="304800"/>
            </a:xfrm>
            <a:prstGeom prst="ellipse">
              <a:avLst/>
            </a:prstGeom>
            <a:solidFill>
              <a:srgbClr val="F8FAFC"/>
            </a:solidFill>
            <a:ln cap="flat" cmpd="sng" w="38100">
              <a:solidFill>
                <a:srgbClr val="3B6E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-57150" y="-57150"/>
              <a:ext cx="114300" cy="114300"/>
            </a:xfrm>
            <a:prstGeom prst="ellipse">
              <a:avLst/>
            </a:prstGeom>
            <a:solidFill>
              <a:srgbClr val="3B6E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6"/>
            <p:cNvSpPr txBox="1"/>
            <p:nvPr/>
          </p:nvSpPr>
          <p:spPr>
            <a:xfrm>
              <a:off x="-190500" y="-10477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3B6EA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Hoy</a:t>
              </a:r>
              <a:endParaRPr b="1" sz="2400">
                <a:solidFill>
                  <a:srgbClr val="3B6EA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6" name="Google Shape;156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290512" y="185738"/>
              <a:ext cx="2657400" cy="2371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6"/>
            <p:cNvSpPr txBox="1"/>
            <p:nvPr/>
          </p:nvSpPr>
          <p:spPr>
            <a:xfrm>
              <a:off x="0" y="438150"/>
              <a:ext cx="2076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Pandas, Seaborn y gran parte del ecosistema científico de Python dibujan sobre Matplotlib.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58" name="Google Shape;158;p16"/>
          <p:cNvSpPr txBox="1"/>
          <p:nvPr/>
        </p:nvSpPr>
        <p:spPr>
          <a:xfrm>
            <a:off x="609600" y="6286500"/>
            <a:ext cx="4762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Fuente: matplotlib.org, History</a:t>
            </a:r>
            <a:endParaRPr b="0"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/>
        </p:nvSpPr>
        <p:spPr>
          <a:xfrm>
            <a:off x="609600" y="428625"/>
            <a:ext cx="1097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FUNDAMENTO TEÓRICO</a:t>
            </a:r>
            <a:endParaRPr b="1" sz="10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609600" y="714375"/>
            <a:ext cx="10972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El Cuarteto de Anscombe (1973)</a:t>
            </a:r>
            <a:endParaRPr b="1" sz="32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65" name="Google Shape;165;p17"/>
          <p:cNvGrpSpPr/>
          <p:nvPr/>
        </p:nvGrpSpPr>
        <p:grpSpPr>
          <a:xfrm>
            <a:off x="609600" y="1428750"/>
            <a:ext cx="5257800" cy="4717762"/>
            <a:chOff x="0" y="0"/>
            <a:chExt cx="5257800" cy="3524400"/>
          </a:xfrm>
        </p:grpSpPr>
        <p:sp>
          <p:nvSpPr>
            <p:cNvPr id="166" name="Google Shape;166;p17"/>
            <p:cNvSpPr/>
            <p:nvPr/>
          </p:nvSpPr>
          <p:spPr>
            <a:xfrm>
              <a:off x="0" y="0"/>
              <a:ext cx="52578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0" y="0"/>
              <a:ext cx="57300" cy="3524400"/>
            </a:xfrm>
            <a:prstGeom prst="roundRect">
              <a:avLst>
                <a:gd fmla="val 50000" name="adj"/>
              </a:avLst>
            </a:prstGeom>
            <a:solidFill>
              <a:srgbClr val="3B6E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285750" y="238125"/>
              <a:ext cx="4686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65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169" name="Google Shape;169;p17"/>
            <p:cNvGrpSpPr/>
            <p:nvPr/>
          </p:nvGrpSpPr>
          <p:grpSpPr>
            <a:xfrm>
              <a:off x="285750" y="666750"/>
              <a:ext cx="4686300" cy="2476500"/>
              <a:chOff x="0" y="0"/>
              <a:chExt cx="4686300" cy="2476500"/>
            </a:xfrm>
          </p:grpSpPr>
          <p:sp>
            <p:nvSpPr>
              <p:cNvPr id="170" name="Google Shape;170;p17"/>
              <p:cNvSpPr/>
              <p:nvPr/>
            </p:nvSpPr>
            <p:spPr>
              <a:xfrm>
                <a:off x="0" y="0"/>
                <a:ext cx="4686300" cy="2476500"/>
              </a:xfrm>
              <a:prstGeom prst="roundRect">
                <a:avLst>
                  <a:gd fmla="val 2307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71" name="Google Shape;171;p17"/>
              <p:cNvCxnSpPr/>
              <p:nvPr/>
            </p:nvCxnSpPr>
            <p:spPr>
              <a:xfrm>
                <a:off x="0" y="361950"/>
                <a:ext cx="4686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2" name="Google Shape;172;p17"/>
              <p:cNvCxnSpPr/>
              <p:nvPr/>
            </p:nvCxnSpPr>
            <p:spPr>
              <a:xfrm>
                <a:off x="152400" y="742950"/>
                <a:ext cx="4381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3" name="Google Shape;173;p17"/>
              <p:cNvCxnSpPr/>
              <p:nvPr/>
            </p:nvCxnSpPr>
            <p:spPr>
              <a:xfrm>
                <a:off x="152400" y="1076325"/>
                <a:ext cx="4381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4" name="Google Shape;174;p17"/>
              <p:cNvCxnSpPr/>
              <p:nvPr/>
            </p:nvCxnSpPr>
            <p:spPr>
              <a:xfrm>
                <a:off x="152400" y="1409700"/>
                <a:ext cx="4381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17"/>
              <p:cNvCxnSpPr/>
              <p:nvPr/>
            </p:nvCxnSpPr>
            <p:spPr>
              <a:xfrm>
                <a:off x="152400" y="1743075"/>
                <a:ext cx="4381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6" name="Google Shape;176;p17"/>
              <p:cNvCxnSpPr/>
              <p:nvPr/>
            </p:nvCxnSpPr>
            <p:spPr>
              <a:xfrm>
                <a:off x="152400" y="2076450"/>
                <a:ext cx="4381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77" name="Google Shape;177;p17"/>
          <p:cNvGrpSpPr/>
          <p:nvPr/>
        </p:nvGrpSpPr>
        <p:grpSpPr>
          <a:xfrm>
            <a:off x="6324600" y="1428750"/>
            <a:ext cx="5257800" cy="4432990"/>
            <a:chOff x="0" y="0"/>
            <a:chExt cx="5257800" cy="3524400"/>
          </a:xfrm>
        </p:grpSpPr>
        <p:sp>
          <p:nvSpPr>
            <p:cNvPr id="178" name="Google Shape;178;p17"/>
            <p:cNvSpPr/>
            <p:nvPr/>
          </p:nvSpPr>
          <p:spPr>
            <a:xfrm>
              <a:off x="0" y="0"/>
              <a:ext cx="52578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0" y="0"/>
              <a:ext cx="57300" cy="3524400"/>
            </a:xfrm>
            <a:prstGeom prst="roundRect">
              <a:avLst>
                <a:gd fmla="val 50000" name="adj"/>
              </a:avLst>
            </a:prstGeom>
            <a:solidFill>
              <a:srgbClr val="3B6E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0" name="Google Shape;1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275" y="1571175"/>
            <a:ext cx="4656450" cy="44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0675" y="1953675"/>
            <a:ext cx="4737875" cy="33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18"/>
          <p:cNvGrpSpPr/>
          <p:nvPr/>
        </p:nvGrpSpPr>
        <p:grpSpPr>
          <a:xfrm>
            <a:off x="6533875" y="1390575"/>
            <a:ext cx="5257800" cy="3524400"/>
            <a:chOff x="0" y="0"/>
            <a:chExt cx="5257800" cy="3524400"/>
          </a:xfrm>
        </p:grpSpPr>
        <p:sp>
          <p:nvSpPr>
            <p:cNvPr id="187" name="Google Shape;187;p18"/>
            <p:cNvSpPr/>
            <p:nvPr/>
          </p:nvSpPr>
          <p:spPr>
            <a:xfrm>
              <a:off x="0" y="0"/>
              <a:ext cx="52578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0" y="0"/>
              <a:ext cx="57300" cy="3524400"/>
            </a:xfrm>
            <a:prstGeom prst="roundRect">
              <a:avLst>
                <a:gd fmla="val 50000" name="adj"/>
              </a:avLst>
            </a:prstGeom>
            <a:solidFill>
              <a:srgbClr val="3B6E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" name="Google Shape;189;p18"/>
          <p:cNvSpPr txBox="1"/>
          <p:nvPr/>
        </p:nvSpPr>
        <p:spPr>
          <a:xfrm>
            <a:off x="609600" y="428625"/>
            <a:ext cx="1097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FUNDAMENTO TEÓRICO</a:t>
            </a:r>
            <a:endParaRPr b="1" sz="10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09600" y="714375"/>
            <a:ext cx="10972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Versión moderna: el Datasaurus Dozen</a:t>
            </a:r>
            <a:endParaRPr b="1" sz="32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91" name="Google Shape;191;p18"/>
          <p:cNvGrpSpPr/>
          <p:nvPr/>
        </p:nvGrpSpPr>
        <p:grpSpPr>
          <a:xfrm>
            <a:off x="609600" y="1428750"/>
            <a:ext cx="5257800" cy="3524400"/>
            <a:chOff x="0" y="0"/>
            <a:chExt cx="5257800" cy="3524400"/>
          </a:xfrm>
        </p:grpSpPr>
        <p:sp>
          <p:nvSpPr>
            <p:cNvPr id="192" name="Google Shape;192;p18"/>
            <p:cNvSpPr/>
            <p:nvPr/>
          </p:nvSpPr>
          <p:spPr>
            <a:xfrm>
              <a:off x="0" y="0"/>
              <a:ext cx="52578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0" y="0"/>
              <a:ext cx="57300" cy="3524400"/>
            </a:xfrm>
            <a:prstGeom prst="roundRect">
              <a:avLst>
                <a:gd fmla="val 50000" name="adj"/>
              </a:avLst>
            </a:prstGeom>
            <a:solidFill>
              <a:srgbClr val="3B6E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4" name="Google Shape;194;p18"/>
            <p:cNvGrpSpPr/>
            <p:nvPr/>
          </p:nvGrpSpPr>
          <p:grpSpPr>
            <a:xfrm>
              <a:off x="285750" y="238125"/>
              <a:ext cx="4686300" cy="790650"/>
              <a:chOff x="0" y="0"/>
              <a:chExt cx="4686300" cy="790650"/>
            </a:xfrm>
          </p:grpSpPr>
          <p:sp>
            <p:nvSpPr>
              <p:cNvPr id="195" name="Google Shape;195;p18"/>
              <p:cNvSpPr txBox="1"/>
              <p:nvPr/>
            </p:nvSpPr>
            <p:spPr>
              <a:xfrm>
                <a:off x="0" y="0"/>
                <a:ext cx="46863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40">
                    <a:solidFill>
                      <a:srgbClr val="3B6EA5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2016</a:t>
                </a:r>
                <a:endParaRPr b="1" sz="2040">
                  <a:solidFill>
                    <a:srgbClr val="3B6EA5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6" name="Google Shape;196;p18"/>
              <p:cNvSpPr txBox="1"/>
              <p:nvPr/>
            </p:nvSpPr>
            <p:spPr>
              <a:xfrm>
                <a:off x="0" y="361950"/>
                <a:ext cx="46863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Alberto Cairo</a:t>
                </a:r>
                <a:r>
                  <a:rPr b="0" lang="en-US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crea el Datasaurus: un conjunto de puntos que dibuja un dinosaurio.</a:t>
                </a:r>
                <a:endParaRPr b="0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7" name="Google Shape;197;p18"/>
            <p:cNvGrpSpPr/>
            <p:nvPr/>
          </p:nvGrpSpPr>
          <p:grpSpPr>
            <a:xfrm>
              <a:off x="285750" y="1238250"/>
              <a:ext cx="4686300" cy="790650"/>
              <a:chOff x="0" y="0"/>
              <a:chExt cx="4686300" cy="790650"/>
            </a:xfrm>
          </p:grpSpPr>
          <p:sp>
            <p:nvSpPr>
              <p:cNvPr id="198" name="Google Shape;198;p18"/>
              <p:cNvSpPr txBox="1"/>
              <p:nvPr/>
            </p:nvSpPr>
            <p:spPr>
              <a:xfrm>
                <a:off x="0" y="0"/>
                <a:ext cx="46863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40">
                    <a:solidFill>
                      <a:srgbClr val="3B6EA5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2017</a:t>
                </a:r>
                <a:endParaRPr b="1" sz="2040">
                  <a:solidFill>
                    <a:srgbClr val="3B6EA5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9" name="Google Shape;199;p18"/>
              <p:cNvSpPr txBox="1"/>
              <p:nvPr/>
            </p:nvSpPr>
            <p:spPr>
              <a:xfrm>
                <a:off x="0" y="361950"/>
                <a:ext cx="46863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Matejka y Fitzmaurice</a:t>
                </a:r>
                <a:r>
                  <a:rPr b="0" lang="en-US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(Autodesk Research) generan otros 12 conjuntos con formas distintas: estrella, círculo, X.</a:t>
                </a:r>
                <a:endParaRPr b="0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00" name="Google Shape;200;p18"/>
            <p:cNvGrpSpPr/>
            <p:nvPr/>
          </p:nvGrpSpPr>
          <p:grpSpPr>
            <a:xfrm>
              <a:off x="285750" y="2428875"/>
              <a:ext cx="4686300" cy="809700"/>
              <a:chOff x="0" y="0"/>
              <a:chExt cx="4686300" cy="809700"/>
            </a:xfrm>
          </p:grpSpPr>
          <p:sp>
            <p:nvSpPr>
              <p:cNvPr id="201" name="Google Shape;201;p18"/>
              <p:cNvSpPr/>
              <p:nvPr/>
            </p:nvSpPr>
            <p:spPr>
              <a:xfrm>
                <a:off x="0" y="0"/>
                <a:ext cx="4686300" cy="809700"/>
              </a:xfrm>
              <a:prstGeom prst="roundRect">
                <a:avLst>
                  <a:gd fmla="val 9411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8"/>
              <p:cNvSpPr txBox="1"/>
              <p:nvPr/>
            </p:nvSpPr>
            <p:spPr>
              <a:xfrm>
                <a:off x="190500" y="142875"/>
                <a:ext cx="43053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Misma media, misma desviación estándar y misma correlación, hasta el segundo decimal.</a:t>
                </a:r>
                <a:endParaRPr b="1" sz="12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203" name="Google Shape;203;p18"/>
          <p:cNvSpPr/>
          <p:nvPr/>
        </p:nvSpPr>
        <p:spPr>
          <a:xfrm>
            <a:off x="0" y="5238750"/>
            <a:ext cx="12192000" cy="666900"/>
          </a:xfrm>
          <a:prstGeom prst="rect">
            <a:avLst/>
          </a:prstGeom>
          <a:solidFill>
            <a:srgbClr val="3B6EA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609600" y="5238750"/>
            <a:ext cx="10972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Mismos números, dibujos completamente distintos.</a:t>
            </a:r>
            <a:endParaRPr b="1" sz="16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609600" y="6334125"/>
            <a:ext cx="10972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Fuente: Matejka y Fitzmaurice (2017), Same Stats, Different Graphs, ACM CHI 2017</a:t>
            </a:r>
            <a:endParaRPr b="0"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6" name="Google Shape;20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9692" y="1433787"/>
            <a:ext cx="3846158" cy="343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09600" y="333375"/>
            <a:ext cx="1097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MERCADO LABORAL</a:t>
            </a:r>
            <a:endParaRPr b="1" sz="10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09600" y="590550"/>
            <a:ext cx="10972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6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Demanda laboral en data analytics: Argentina</a:t>
            </a:r>
            <a:endParaRPr b="1" sz="296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214" name="Google Shape;214;p19"/>
          <p:cNvGrpSpPr/>
          <p:nvPr/>
        </p:nvGrpSpPr>
        <p:grpSpPr>
          <a:xfrm>
            <a:off x="609600" y="1190625"/>
            <a:ext cx="5334000" cy="2229970"/>
            <a:chOff x="0" y="0"/>
            <a:chExt cx="5334000" cy="1809600"/>
          </a:xfrm>
        </p:grpSpPr>
        <p:sp>
          <p:nvSpPr>
            <p:cNvPr id="215" name="Google Shape;215;p19"/>
            <p:cNvSpPr/>
            <p:nvPr/>
          </p:nvSpPr>
          <p:spPr>
            <a:xfrm>
              <a:off x="0" y="0"/>
              <a:ext cx="5334000" cy="18096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0" y="0"/>
              <a:ext cx="57300" cy="1809600"/>
            </a:xfrm>
            <a:prstGeom prst="roundRect">
              <a:avLst>
                <a:gd fmla="val 50000" name="adj"/>
              </a:avLst>
            </a:prstGeom>
            <a:solidFill>
              <a:srgbClr val="3B6E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228600" y="152400"/>
              <a:ext cx="4876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B6EA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Demanda destacada</a:t>
              </a:r>
              <a:endParaRPr b="1" sz="1600">
                <a:solidFill>
                  <a:srgbClr val="3B6EA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8" name="Google Shape;218;p19"/>
            <p:cNvSpPr txBox="1"/>
            <p:nvPr/>
          </p:nvSpPr>
          <p:spPr>
            <a:xfrm>
              <a:off x="228600" y="457200"/>
              <a:ext cx="4876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79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250"/>
                <a:buFont typeface="Inter"/>
                <a:buChar char="●"/>
              </a:pPr>
              <a:r>
                <a:rPr b="0"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Ciencia de datos y analítica lideran la demanda y ofrecen las mejores remuneraciones del sector tecnológico argentino.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75569"/>
                </a:buClr>
                <a:buSzPts val="1250"/>
                <a:buFont typeface="Inter"/>
                <a:buChar char="●"/>
              </a:pPr>
              <a:r>
                <a:rPr b="1" lang="en-US" sz="12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Randstad, carreras con mayor proyección 2026:</a:t>
              </a:r>
              <a:r>
                <a:rPr b="0"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se buscan especialistas en Business Intelligence y analítica avanzada en empresas de todos los tamaños.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9" name="Google Shape;219;p19"/>
          <p:cNvGrpSpPr/>
          <p:nvPr/>
        </p:nvGrpSpPr>
        <p:grpSpPr>
          <a:xfrm>
            <a:off x="6248400" y="1190625"/>
            <a:ext cx="5334000" cy="2229970"/>
            <a:chOff x="0" y="0"/>
            <a:chExt cx="5334000" cy="1809600"/>
          </a:xfrm>
        </p:grpSpPr>
        <p:sp>
          <p:nvSpPr>
            <p:cNvPr id="220" name="Google Shape;220;p19"/>
            <p:cNvSpPr/>
            <p:nvPr/>
          </p:nvSpPr>
          <p:spPr>
            <a:xfrm>
              <a:off x="0" y="0"/>
              <a:ext cx="5334000" cy="18096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9"/>
            <p:cNvSpPr/>
            <p:nvPr/>
          </p:nvSpPr>
          <p:spPr>
            <a:xfrm>
              <a:off x="0" y="0"/>
              <a:ext cx="57300" cy="1809600"/>
            </a:xfrm>
            <a:prstGeom prst="roundRect">
              <a:avLst>
                <a:gd fmla="val 50000" name="adj"/>
              </a:avLst>
            </a:prstGeom>
            <a:solidFill>
              <a:srgbClr val="3B6E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9"/>
            <p:cNvSpPr txBox="1"/>
            <p:nvPr/>
          </p:nvSpPr>
          <p:spPr>
            <a:xfrm>
              <a:off x="228600" y="133350"/>
              <a:ext cx="48768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B6EA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Competencias más buscadas</a:t>
              </a:r>
              <a:endParaRPr b="1" sz="1600">
                <a:solidFill>
                  <a:srgbClr val="3B6EA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223" name="Google Shape;223;p19"/>
            <p:cNvGrpSpPr/>
            <p:nvPr/>
          </p:nvGrpSpPr>
          <p:grpSpPr>
            <a:xfrm>
              <a:off x="228600" y="419100"/>
              <a:ext cx="4762650" cy="838200"/>
              <a:chOff x="0" y="0"/>
              <a:chExt cx="4762650" cy="838200"/>
            </a:xfrm>
          </p:grpSpPr>
          <p:sp>
            <p:nvSpPr>
              <p:cNvPr id="224" name="Google Shape;224;p19"/>
              <p:cNvSpPr txBox="1"/>
              <p:nvPr/>
            </p:nvSpPr>
            <p:spPr>
              <a:xfrm>
                <a:off x="0" y="0"/>
                <a:ext cx="2667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08">
                    <a:solidFill>
                      <a:srgbClr val="33415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Relevamiento y documentación de requerimientos</a:t>
                </a:r>
                <a:endParaRPr b="0" sz="808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5" name="Google Shape;225;p19"/>
              <p:cNvSpPr/>
              <p:nvPr/>
            </p:nvSpPr>
            <p:spPr>
              <a:xfrm>
                <a:off x="2714625" y="19050"/>
                <a:ext cx="1524000" cy="114300"/>
              </a:xfrm>
              <a:prstGeom prst="roundRect">
                <a:avLst>
                  <a:gd fmla="val 25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9"/>
              <p:cNvSpPr/>
              <p:nvPr/>
            </p:nvSpPr>
            <p:spPr>
              <a:xfrm>
                <a:off x="2714625" y="19050"/>
                <a:ext cx="1127700" cy="114300"/>
              </a:xfrm>
              <a:prstGeom prst="roundRect">
                <a:avLst>
                  <a:gd fmla="val 25000" name="adj"/>
                </a:avLst>
              </a:prstGeom>
              <a:solidFill>
                <a:srgbClr val="3B6EA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9"/>
              <p:cNvSpPr txBox="1"/>
              <p:nvPr/>
            </p:nvSpPr>
            <p:spPr>
              <a:xfrm>
                <a:off x="4286250" y="0"/>
                <a:ext cx="476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8">
                    <a:solidFill>
                      <a:srgbClr val="3B6EA5"/>
                    </a:solidFill>
                    <a:latin typeface="Inter"/>
                    <a:ea typeface="Inter"/>
                    <a:cs typeface="Inter"/>
                    <a:sym typeface="Inter"/>
                  </a:rPr>
                  <a:t>74 %</a:t>
                </a:r>
                <a:endParaRPr b="1" sz="808">
                  <a:solidFill>
                    <a:srgbClr val="3B6EA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" name="Google Shape;228;p19"/>
              <p:cNvSpPr txBox="1"/>
              <p:nvPr/>
            </p:nvSpPr>
            <p:spPr>
              <a:xfrm>
                <a:off x="0" y="228600"/>
                <a:ext cx="2667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08">
                    <a:solidFill>
                      <a:srgbClr val="33415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SQL</a:t>
                </a:r>
                <a:endParaRPr b="0" sz="808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9" name="Google Shape;229;p19"/>
              <p:cNvSpPr/>
              <p:nvPr/>
            </p:nvSpPr>
            <p:spPr>
              <a:xfrm>
                <a:off x="2714625" y="247650"/>
                <a:ext cx="1524000" cy="114300"/>
              </a:xfrm>
              <a:prstGeom prst="roundRect">
                <a:avLst>
                  <a:gd fmla="val 25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9"/>
              <p:cNvSpPr/>
              <p:nvPr/>
            </p:nvSpPr>
            <p:spPr>
              <a:xfrm>
                <a:off x="2714625" y="247650"/>
                <a:ext cx="899100" cy="114300"/>
              </a:xfrm>
              <a:prstGeom prst="roundRect">
                <a:avLst>
                  <a:gd fmla="val 25000" name="adj"/>
                </a:avLst>
              </a:prstGeom>
              <a:solidFill>
                <a:srgbClr val="3B6EA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9"/>
              <p:cNvSpPr txBox="1"/>
              <p:nvPr/>
            </p:nvSpPr>
            <p:spPr>
              <a:xfrm>
                <a:off x="4286250" y="228600"/>
                <a:ext cx="476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8">
                    <a:solidFill>
                      <a:srgbClr val="3B6EA5"/>
                    </a:solidFill>
                    <a:latin typeface="Inter"/>
                    <a:ea typeface="Inter"/>
                    <a:cs typeface="Inter"/>
                    <a:sym typeface="Inter"/>
                  </a:rPr>
                  <a:t>59 %</a:t>
                </a:r>
                <a:endParaRPr b="1" sz="808">
                  <a:solidFill>
                    <a:srgbClr val="3B6EA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2" name="Google Shape;232;p19"/>
              <p:cNvSpPr txBox="1"/>
              <p:nvPr/>
            </p:nvSpPr>
            <p:spPr>
              <a:xfrm>
                <a:off x="0" y="457200"/>
                <a:ext cx="2667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08">
                    <a:solidFill>
                      <a:srgbClr val="33415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Python</a:t>
                </a:r>
                <a:endParaRPr b="0" sz="808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3" name="Google Shape;233;p19"/>
              <p:cNvSpPr/>
              <p:nvPr/>
            </p:nvSpPr>
            <p:spPr>
              <a:xfrm>
                <a:off x="2714625" y="476250"/>
                <a:ext cx="1524000" cy="114300"/>
              </a:xfrm>
              <a:prstGeom prst="roundRect">
                <a:avLst>
                  <a:gd fmla="val 25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9"/>
              <p:cNvSpPr/>
              <p:nvPr/>
            </p:nvSpPr>
            <p:spPr>
              <a:xfrm>
                <a:off x="2714625" y="476250"/>
                <a:ext cx="670500" cy="114300"/>
              </a:xfrm>
              <a:prstGeom prst="roundRect">
                <a:avLst>
                  <a:gd fmla="val 25000" name="adj"/>
                </a:avLst>
              </a:prstGeom>
              <a:solidFill>
                <a:srgbClr val="3B6EA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9"/>
              <p:cNvSpPr txBox="1"/>
              <p:nvPr/>
            </p:nvSpPr>
            <p:spPr>
              <a:xfrm>
                <a:off x="4286250" y="457200"/>
                <a:ext cx="476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8">
                    <a:solidFill>
                      <a:srgbClr val="3B6EA5"/>
                    </a:solidFill>
                    <a:latin typeface="Inter"/>
                    <a:ea typeface="Inter"/>
                    <a:cs typeface="Inter"/>
                    <a:sym typeface="Inter"/>
                  </a:rPr>
                  <a:t>44 %</a:t>
                </a:r>
                <a:endParaRPr b="1" sz="808">
                  <a:solidFill>
                    <a:srgbClr val="3B6EA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6" name="Google Shape;236;p19"/>
              <p:cNvSpPr txBox="1"/>
              <p:nvPr/>
            </p:nvSpPr>
            <p:spPr>
              <a:xfrm>
                <a:off x="0" y="685800"/>
                <a:ext cx="2667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08">
                    <a:solidFill>
                      <a:srgbClr val="33415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Alfabetización en IA</a:t>
                </a:r>
                <a:endParaRPr b="0" sz="808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7" name="Google Shape;237;p19"/>
              <p:cNvSpPr/>
              <p:nvPr/>
            </p:nvSpPr>
            <p:spPr>
              <a:xfrm>
                <a:off x="2714625" y="704850"/>
                <a:ext cx="1524000" cy="114300"/>
              </a:xfrm>
              <a:prstGeom prst="roundRect">
                <a:avLst>
                  <a:gd fmla="val 25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9"/>
              <p:cNvSpPr/>
              <p:nvPr/>
            </p:nvSpPr>
            <p:spPr>
              <a:xfrm>
                <a:off x="2714625" y="704850"/>
                <a:ext cx="533400" cy="114300"/>
              </a:xfrm>
              <a:prstGeom prst="roundRect">
                <a:avLst>
                  <a:gd fmla="val 25000" name="adj"/>
                </a:avLst>
              </a:prstGeom>
              <a:solidFill>
                <a:srgbClr val="3B6EA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9"/>
              <p:cNvSpPr txBox="1"/>
              <p:nvPr/>
            </p:nvSpPr>
            <p:spPr>
              <a:xfrm>
                <a:off x="4286250" y="685800"/>
                <a:ext cx="476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8">
                    <a:solidFill>
                      <a:srgbClr val="3B6EA5"/>
                    </a:solidFill>
                    <a:latin typeface="Inter"/>
                    <a:ea typeface="Inter"/>
                    <a:cs typeface="Inter"/>
                    <a:sym typeface="Inter"/>
                  </a:rPr>
                  <a:t>35 %</a:t>
                </a:r>
                <a:endParaRPr b="1" sz="808">
                  <a:solidFill>
                    <a:srgbClr val="3B6EA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40" name="Google Shape;240;p19"/>
            <p:cNvSpPr txBox="1"/>
            <p:nvPr/>
          </p:nvSpPr>
          <p:spPr>
            <a:xfrm>
              <a:off x="228600" y="1352550"/>
              <a:ext cx="48768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08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Las más pedidas son las fundacionales, no las más novedosas.</a:t>
              </a:r>
              <a:endParaRPr b="0" sz="808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1" name="Google Shape;241;p19"/>
          <p:cNvGrpSpPr/>
          <p:nvPr/>
        </p:nvGrpSpPr>
        <p:grpSpPr>
          <a:xfrm>
            <a:off x="609600" y="3596798"/>
            <a:ext cx="5334000" cy="2229970"/>
            <a:chOff x="0" y="0"/>
            <a:chExt cx="5334000" cy="1809600"/>
          </a:xfrm>
        </p:grpSpPr>
        <p:sp>
          <p:nvSpPr>
            <p:cNvPr id="242" name="Google Shape;242;p19"/>
            <p:cNvSpPr/>
            <p:nvPr/>
          </p:nvSpPr>
          <p:spPr>
            <a:xfrm>
              <a:off x="0" y="0"/>
              <a:ext cx="5334000" cy="18096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0" y="0"/>
              <a:ext cx="57300" cy="1809600"/>
            </a:xfrm>
            <a:prstGeom prst="roundRect">
              <a:avLst>
                <a:gd fmla="val 50000" name="adj"/>
              </a:avLst>
            </a:prstGeom>
            <a:solidFill>
              <a:srgbClr val="3B6E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 txBox="1"/>
            <p:nvPr/>
          </p:nvSpPr>
          <p:spPr>
            <a:xfrm>
              <a:off x="228600" y="152400"/>
              <a:ext cx="4876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B6EA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Perfiles con más tracción</a:t>
              </a:r>
              <a:endParaRPr b="1" sz="1600">
                <a:solidFill>
                  <a:srgbClr val="3B6EA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5" name="Google Shape;245;p19"/>
            <p:cNvSpPr txBox="1"/>
            <p:nvPr/>
          </p:nvSpPr>
          <p:spPr>
            <a:xfrm>
              <a:off x="228600" y="457200"/>
              <a:ext cx="4876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79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250"/>
                <a:buFont typeface="Inter"/>
                <a:buChar char="●"/>
              </a:pPr>
              <a:r>
                <a:rPr b="1" lang="en-US" sz="12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Data Engineer:</a:t>
              </a:r>
              <a:r>
                <a:rPr b="0"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construye y mantiene los pipelines de datos que alimentan los análisis.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75569"/>
                </a:buClr>
                <a:buSzPts val="1250"/>
                <a:buFont typeface="Inter"/>
                <a:buChar char="●"/>
              </a:pPr>
              <a:r>
                <a:rPr b="1" lang="en-US" sz="12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Data Scientist / AI/ML Engineer:</a:t>
              </a:r>
              <a:r>
                <a:rPr b="0"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analítica predictiva y automatización de decisiones. La demanda crece a doble dígito.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6" name="Google Shape;246;p19"/>
          <p:cNvGrpSpPr/>
          <p:nvPr/>
        </p:nvGrpSpPr>
        <p:grpSpPr>
          <a:xfrm>
            <a:off x="6248400" y="3596798"/>
            <a:ext cx="5334000" cy="2229970"/>
            <a:chOff x="0" y="0"/>
            <a:chExt cx="5334000" cy="1809600"/>
          </a:xfrm>
        </p:grpSpPr>
        <p:sp>
          <p:nvSpPr>
            <p:cNvPr id="247" name="Google Shape;247;p19"/>
            <p:cNvSpPr/>
            <p:nvPr/>
          </p:nvSpPr>
          <p:spPr>
            <a:xfrm>
              <a:off x="0" y="0"/>
              <a:ext cx="5334000" cy="1809600"/>
            </a:xfrm>
            <a:prstGeom prst="roundRect">
              <a:avLst>
                <a:gd fmla="val 63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0" y="0"/>
              <a:ext cx="57300" cy="1809600"/>
            </a:xfrm>
            <a:prstGeom prst="roundRect">
              <a:avLst>
                <a:gd fmla="val 50000" name="adj"/>
              </a:avLst>
            </a:prstGeom>
            <a:solidFill>
              <a:srgbClr val="3B6E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 txBox="1"/>
            <p:nvPr/>
          </p:nvSpPr>
          <p:spPr>
            <a:xfrm>
              <a:off x="228600" y="152400"/>
              <a:ext cx="4876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B6EA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Quién contrata</a:t>
              </a:r>
              <a:endParaRPr b="1" sz="1600">
                <a:solidFill>
                  <a:srgbClr val="3B6EA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0" name="Google Shape;250;p19"/>
            <p:cNvSpPr txBox="1"/>
            <p:nvPr/>
          </p:nvSpPr>
          <p:spPr>
            <a:xfrm>
              <a:off x="228600" y="457200"/>
              <a:ext cx="4876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79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250"/>
                <a:buFont typeface="Inter"/>
                <a:buChar char="●"/>
              </a:pPr>
              <a:r>
                <a:rPr b="1" lang="en-US" sz="12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Multinacionales:</a:t>
              </a:r>
              <a:r>
                <a:rPr b="0"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L'Oréal, Novartis, PedidosYa y Naranja X.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250"/>
                <a:buFont typeface="Inter"/>
                <a:buChar char="●"/>
              </a:pPr>
              <a:r>
                <a:rPr b="1" lang="en-US" sz="12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GlobalLogic</a:t>
              </a:r>
              <a:r>
                <a:rPr b="0"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planea incorporar más de 450 profesionales en Argentina durante 2026.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75569"/>
                </a:buClr>
                <a:buSzPts val="1250"/>
                <a:buFont typeface="Inter"/>
                <a:buChar char="●"/>
              </a:pPr>
              <a:r>
                <a:rPr b="1" lang="en-US" sz="12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Ofertas 100 % remotas</a:t>
              </a:r>
              <a:r>
                <a:rPr b="0" lang="en-US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desde Argentina: EPAM, Webflow y Newsela.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51" name="Google Shape;251;p19"/>
          <p:cNvSpPr txBox="1"/>
          <p:nvPr/>
        </p:nvSpPr>
        <p:spPr>
          <a:xfrm>
            <a:off x="609600" y="6400800"/>
            <a:ext cx="1097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Fuentes: Randstad; Encuesta de Sueldos 2026 de SysArmy; estudio sobre avisos de empleo en Argentina.</a:t>
            </a:r>
            <a:endParaRPr b="0"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"/>
          <p:cNvSpPr txBox="1"/>
          <p:nvPr/>
        </p:nvSpPr>
        <p:spPr>
          <a:xfrm>
            <a:off x="609600" y="428625"/>
            <a:ext cx="1097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HERRAMIENTAS DE VISUALIZACIÓN</a:t>
            </a:r>
            <a:endParaRPr b="1" sz="10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609600" y="714375"/>
            <a:ext cx="10972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 tríada de visualización en Python</a:t>
            </a:r>
            <a:endParaRPr b="1" sz="32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258" name="Google Shape;25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619250"/>
            <a:ext cx="34290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/>
          <p:nvPr/>
        </p:nvSpPr>
        <p:spPr>
          <a:xfrm>
            <a:off x="609600" y="1619250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F5851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914400" y="2000250"/>
            <a:ext cx="28194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Matplotlib</a:t>
            </a:r>
            <a:endParaRPr b="1" sz="24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La librería madre</a:t>
            </a:r>
            <a:endParaRPr b="1" sz="1300">
              <a:solidFill>
                <a:srgbClr val="D9770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Motor de bajo nivel. Control total sobre cada elemento, a cambio de más código.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1" name="Google Shape;26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619250"/>
            <a:ext cx="34290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/>
          <p:nvPr/>
        </p:nvSpPr>
        <p:spPr>
          <a:xfrm>
            <a:off x="4381500" y="1619250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4686300" y="2000250"/>
            <a:ext cx="28194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Seaborn</a:t>
            </a:r>
            <a:endParaRPr b="1" sz="24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A9D8F"/>
                </a:solidFill>
                <a:latin typeface="Inter"/>
                <a:ea typeface="Inter"/>
                <a:cs typeface="Inter"/>
                <a:sym typeface="Inter"/>
              </a:rPr>
              <a:t>Estadística de alto nivel</a:t>
            </a:r>
            <a:endParaRPr b="1" sz="1300">
              <a:solidFill>
                <a:srgbClr val="2A9D8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Construida sobre Matplotlib. Exploración rápida con DataFrames de Pandas.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4" name="Google Shape;26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3400" y="1619250"/>
            <a:ext cx="34290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/>
          <p:nvPr/>
        </p:nvSpPr>
        <p:spPr>
          <a:xfrm>
            <a:off x="8153400" y="1619250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636E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8458200" y="2000250"/>
            <a:ext cx="28194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Plotly</a:t>
            </a:r>
            <a:endParaRPr b="1" sz="24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36EFA"/>
                </a:solidFill>
                <a:latin typeface="Inter"/>
                <a:ea typeface="Inter"/>
                <a:cs typeface="Inter"/>
                <a:sym typeface="Inter"/>
              </a:rPr>
              <a:t>Interactivo y web</a:t>
            </a:r>
            <a:endParaRPr b="1" sz="1300">
              <a:solidFill>
                <a:srgbClr val="636E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Estándar para gráficos interactivos y dashboards en el navegador.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0" y="5334000"/>
            <a:ext cx="12192000" cy="666900"/>
          </a:xfrm>
          <a:prstGeom prst="rect">
            <a:avLst/>
          </a:prstGeom>
          <a:solidFill>
            <a:srgbClr val="3B6EA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609600" y="5334000"/>
            <a:ext cx="10972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Para elegir entre ellas, hay que entender qué pasa por dentro de cada una.</a:t>
            </a:r>
            <a:endParaRPr b="1" sz="15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609600" y="428625"/>
            <a:ext cx="1097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INGENIERÍA DE SOFTWARE</a:t>
            </a:r>
            <a:endParaRPr b="1" sz="10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609600" y="685800"/>
            <a:ext cx="10972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Matplotlib: arquitectura en tres capas</a:t>
            </a:r>
            <a:endParaRPr b="1" sz="28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276" name="Google Shape;276;p21"/>
          <p:cNvGrpSpPr/>
          <p:nvPr/>
        </p:nvGrpSpPr>
        <p:grpSpPr>
          <a:xfrm>
            <a:off x="609600" y="1428750"/>
            <a:ext cx="5496573" cy="4762681"/>
            <a:chOff x="0" y="0"/>
            <a:chExt cx="3619500" cy="3714750"/>
          </a:xfrm>
        </p:grpSpPr>
        <p:sp>
          <p:nvSpPr>
            <p:cNvPr id="277" name="Google Shape;277;p21"/>
            <p:cNvSpPr/>
            <p:nvPr/>
          </p:nvSpPr>
          <p:spPr>
            <a:xfrm>
              <a:off x="0" y="0"/>
              <a:ext cx="3619500" cy="952500"/>
            </a:xfrm>
            <a:prstGeom prst="roundRect">
              <a:avLst>
                <a:gd fmla="val 8000" name="adj"/>
              </a:avLst>
            </a:prstGeom>
            <a:solidFill>
              <a:srgbClr val="EFF6FF"/>
            </a:solidFill>
            <a:ln cap="flat" cmpd="sng" w="1430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190500" y="247650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Scripting Layer</a:t>
              </a:r>
              <a:endParaRPr b="1" sz="1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pyplot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1809750" y="952500"/>
              <a:ext cx="0" cy="3621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1762125" y="1295400"/>
              <a:ext cx="954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1"/>
            <p:cNvSpPr txBox="1"/>
            <p:nvPr/>
          </p:nvSpPr>
          <p:spPr>
            <a:xfrm>
              <a:off x="1952625" y="1047750"/>
              <a:ext cx="16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cada capa se apoya en la inferior</a:t>
              </a:r>
              <a:endParaRPr b="0" sz="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82" name="Google Shape;282;p21"/>
            <p:cNvSpPr/>
            <p:nvPr/>
          </p:nvSpPr>
          <p:spPr>
            <a:xfrm>
              <a:off x="0" y="1381125"/>
              <a:ext cx="3619500" cy="952500"/>
            </a:xfrm>
            <a:prstGeom prst="roundRect">
              <a:avLst>
                <a:gd fmla="val 8000" name="adj"/>
              </a:avLst>
            </a:prstGeom>
            <a:solidFill>
              <a:srgbClr val="EFF6FF"/>
            </a:solidFill>
            <a:ln cap="flat" cmpd="sng" w="1430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1"/>
            <p:cNvSpPr txBox="1"/>
            <p:nvPr/>
          </p:nvSpPr>
          <p:spPr>
            <a:xfrm>
              <a:off x="190500" y="1628775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Artist Layer</a:t>
              </a:r>
              <a:endParaRPr b="1" sz="1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objetos que se dibujan a sí mismos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1809750" y="2333625"/>
              <a:ext cx="0" cy="3621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1"/>
            <p:cNvSpPr/>
            <p:nvPr/>
          </p:nvSpPr>
          <p:spPr>
            <a:xfrm>
              <a:off x="1762125" y="2676525"/>
              <a:ext cx="954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1"/>
            <p:cNvSpPr txBox="1"/>
            <p:nvPr/>
          </p:nvSpPr>
          <p:spPr>
            <a:xfrm>
              <a:off x="1952625" y="2428875"/>
              <a:ext cx="16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90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87" name="Google Shape;287;p21"/>
            <p:cNvSpPr/>
            <p:nvPr/>
          </p:nvSpPr>
          <p:spPr>
            <a:xfrm>
              <a:off x="0" y="2762250"/>
              <a:ext cx="3619500" cy="952500"/>
            </a:xfrm>
            <a:prstGeom prst="roundRect">
              <a:avLst>
                <a:gd fmla="val 8000" name="adj"/>
              </a:avLst>
            </a:prstGeom>
            <a:solidFill>
              <a:srgbClr val="F585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1"/>
            <p:cNvSpPr txBox="1"/>
            <p:nvPr/>
          </p:nvSpPr>
          <p:spPr>
            <a:xfrm>
              <a:off x="190500" y="3009900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Backend Layer</a:t>
              </a:r>
              <a:endParaRPr b="1" sz="14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FEF3C7"/>
                  </a:solidFill>
                  <a:latin typeface="Inter"/>
                  <a:ea typeface="Inter"/>
                  <a:cs typeface="Inter"/>
                  <a:sym typeface="Inter"/>
                </a:rPr>
                <a:t>salida: archivo o ventana</a:t>
              </a:r>
              <a:endParaRPr b="0" sz="1050">
                <a:solidFill>
                  <a:srgbClr val="FEF3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9" name="Google Shape;289;p21"/>
          <p:cNvGrpSpPr/>
          <p:nvPr/>
        </p:nvGrpSpPr>
        <p:grpSpPr>
          <a:xfrm>
            <a:off x="6258075" y="1428750"/>
            <a:ext cx="5324296" cy="4762500"/>
            <a:chOff x="0" y="0"/>
            <a:chExt cx="6819900" cy="4762500"/>
          </a:xfrm>
        </p:grpSpPr>
        <p:sp>
          <p:nvSpPr>
            <p:cNvPr id="290" name="Google Shape;290;p21"/>
            <p:cNvSpPr/>
            <p:nvPr/>
          </p:nvSpPr>
          <p:spPr>
            <a:xfrm>
              <a:off x="0" y="0"/>
              <a:ext cx="6819900" cy="4762500"/>
            </a:xfrm>
            <a:prstGeom prst="roundRect">
              <a:avLst>
                <a:gd fmla="val 24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0" y="0"/>
              <a:ext cx="57300" cy="4762500"/>
            </a:xfrm>
            <a:prstGeom prst="roundRect">
              <a:avLst>
                <a:gd fmla="val 50000" name="adj"/>
              </a:avLst>
            </a:prstGeom>
            <a:solidFill>
              <a:srgbClr val="F585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 txBox="1"/>
            <p:nvPr/>
          </p:nvSpPr>
          <p:spPr>
            <a:xfrm>
              <a:off x="381000" y="285750"/>
              <a:ext cx="6057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Backend Layer</a:t>
              </a:r>
              <a:endParaRPr b="1" sz="18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93" name="Google Shape;293;p21"/>
            <p:cNvSpPr txBox="1"/>
            <p:nvPr/>
          </p:nvSpPr>
          <p:spPr>
            <a:xfrm>
              <a:off x="381000" y="868645"/>
              <a:ext cx="60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Tres clases abstractas: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4" name="Google Shape;294;p21"/>
            <p:cNvSpPr txBox="1"/>
            <p:nvPr/>
          </p:nvSpPr>
          <p:spPr>
            <a:xfrm>
              <a:off x="381004" y="1230069"/>
              <a:ext cx="6057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FigureCanvas: </a:t>
              </a:r>
              <a:r>
                <a:rPr b="0" lang="en-US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el área sobre la que se dibuja</a:t>
              </a:r>
              <a:endParaRPr b="1" sz="1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Renderer: </a:t>
              </a:r>
              <a:r>
                <a:rPr b="0" lang="en-US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ejecuta el dibujo</a:t>
              </a:r>
              <a:endParaRPr b="1" sz="1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b="1" lang="en-US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Event: </a:t>
              </a:r>
              <a:r>
                <a:rPr b="0" lang="en-US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gestiona la entrada del usuario (mouse y teclado)</a:t>
              </a:r>
              <a:endParaRPr b="1" sz="13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5" name="Google Shape;295;p21"/>
            <p:cNvSpPr/>
            <p:nvPr/>
          </p:nvSpPr>
          <p:spPr>
            <a:xfrm>
              <a:off x="381000" y="2428875"/>
              <a:ext cx="6057900" cy="8574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1"/>
            <p:cNvSpPr txBox="1"/>
            <p:nvPr/>
          </p:nvSpPr>
          <p:spPr>
            <a:xfrm>
              <a:off x="571500" y="2571750"/>
              <a:ext cx="5676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No interactivos, generan archivos: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Agg (PNG), PDF, SVG, PostScript.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7" name="Google Shape;297;p21"/>
            <p:cNvSpPr/>
            <p:nvPr/>
          </p:nvSpPr>
          <p:spPr>
            <a:xfrm>
              <a:off x="381000" y="3476625"/>
              <a:ext cx="6057900" cy="8574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1"/>
            <p:cNvSpPr txBox="1"/>
            <p:nvPr/>
          </p:nvSpPr>
          <p:spPr>
            <a:xfrm>
              <a:off x="571500" y="3619500"/>
              <a:ext cx="5676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Interactivos, muestran una ventana: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Qt, Tk.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609600" y="428625"/>
            <a:ext cx="1097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INGENIERÍA DE SOFTWARE</a:t>
            </a:r>
            <a:endParaRPr b="1" sz="10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609600" y="714375"/>
            <a:ext cx="10972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Artist Layer: todo lo que se ve es un Artist</a:t>
            </a:r>
            <a:endParaRPr b="1" sz="30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306" name="Google Shape;306;p22"/>
          <p:cNvGrpSpPr/>
          <p:nvPr/>
        </p:nvGrpSpPr>
        <p:grpSpPr>
          <a:xfrm>
            <a:off x="609600" y="1476375"/>
            <a:ext cx="5257800" cy="4048200"/>
            <a:chOff x="0" y="0"/>
            <a:chExt cx="5257800" cy="4048200"/>
          </a:xfrm>
        </p:grpSpPr>
        <p:sp>
          <p:nvSpPr>
            <p:cNvPr id="307" name="Google Shape;307;p22"/>
            <p:cNvSpPr/>
            <p:nvPr/>
          </p:nvSpPr>
          <p:spPr>
            <a:xfrm>
              <a:off x="0" y="0"/>
              <a:ext cx="5257800" cy="4048200"/>
            </a:xfrm>
            <a:prstGeom prst="roundRect">
              <a:avLst>
                <a:gd fmla="val 18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1047750" y="762000"/>
              <a:ext cx="3162300" cy="12384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27692"/>
                  </a:lnTo>
                  <a:moveTo>
                    <a:pt x="60000" y="64615"/>
                  </a:moveTo>
                  <a:lnTo>
                    <a:pt x="60000" y="92308"/>
                  </a:lnTo>
                  <a:moveTo>
                    <a:pt x="0" y="92308"/>
                  </a:moveTo>
                  <a:lnTo>
                    <a:pt x="120000" y="92308"/>
                  </a:lnTo>
                  <a:moveTo>
                    <a:pt x="0" y="92308"/>
                  </a:moveTo>
                  <a:lnTo>
                    <a:pt x="0" y="120000"/>
                  </a:lnTo>
                  <a:moveTo>
                    <a:pt x="39759" y="92308"/>
                  </a:moveTo>
                  <a:lnTo>
                    <a:pt x="39759" y="120000"/>
                  </a:lnTo>
                  <a:moveTo>
                    <a:pt x="80241" y="92308"/>
                  </a:moveTo>
                  <a:lnTo>
                    <a:pt x="80241" y="120000"/>
                  </a:lnTo>
                  <a:moveTo>
                    <a:pt x="120000" y="92308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1962150" y="381000"/>
              <a:ext cx="1333500" cy="381000"/>
            </a:xfrm>
            <a:prstGeom prst="roundRect">
              <a:avLst>
                <a:gd fmla="val 15000" name="adj"/>
              </a:avLst>
            </a:prstGeom>
            <a:solidFill>
              <a:srgbClr val="F585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2"/>
            <p:cNvSpPr txBox="1"/>
            <p:nvPr/>
          </p:nvSpPr>
          <p:spPr>
            <a:xfrm>
              <a:off x="1962150" y="381000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Figure</a:t>
              </a:r>
              <a:endParaRPr b="1" sz="1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11" name="Google Shape;311;p22"/>
            <p:cNvSpPr/>
            <p:nvPr/>
          </p:nvSpPr>
          <p:spPr>
            <a:xfrm>
              <a:off x="1962150" y="1047750"/>
              <a:ext cx="1333500" cy="381000"/>
            </a:xfrm>
            <a:prstGeom prst="roundRect">
              <a:avLst>
                <a:gd fmla="val 15000" name="adj"/>
              </a:avLst>
            </a:prstGeom>
            <a:solidFill>
              <a:srgbClr val="F585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2"/>
            <p:cNvSpPr txBox="1"/>
            <p:nvPr/>
          </p:nvSpPr>
          <p:spPr>
            <a:xfrm>
              <a:off x="1962150" y="1047750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Axes</a:t>
              </a:r>
              <a:endParaRPr b="1" sz="1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571500" y="2000250"/>
              <a:ext cx="952500" cy="381000"/>
            </a:xfrm>
            <a:prstGeom prst="roundRect">
              <a:avLst>
                <a:gd fmla="val 15000" name="adj"/>
              </a:avLst>
            </a:prstGeom>
            <a:solidFill>
              <a:srgbClr val="F585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2"/>
            <p:cNvSpPr txBox="1"/>
            <p:nvPr/>
          </p:nvSpPr>
          <p:spPr>
            <a:xfrm>
              <a:off x="571500" y="200025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Axis X</a:t>
              </a:r>
              <a:endParaRPr b="1" sz="1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1619250" y="2000250"/>
              <a:ext cx="952500" cy="381000"/>
            </a:xfrm>
            <a:prstGeom prst="roundRect">
              <a:avLst>
                <a:gd fmla="val 15000" name="adj"/>
              </a:avLst>
            </a:prstGeom>
            <a:solidFill>
              <a:srgbClr val="F585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2"/>
            <p:cNvSpPr txBox="1"/>
            <p:nvPr/>
          </p:nvSpPr>
          <p:spPr>
            <a:xfrm>
              <a:off x="1619250" y="200025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Axis Y</a:t>
              </a:r>
              <a:endParaRPr b="1" sz="1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2686050" y="2000250"/>
              <a:ext cx="9525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 cap="flat" cmpd="sng" w="1430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2"/>
            <p:cNvSpPr txBox="1"/>
            <p:nvPr/>
          </p:nvSpPr>
          <p:spPr>
            <a:xfrm>
              <a:off x="2686050" y="200025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Line2D</a:t>
              </a:r>
              <a:endParaRPr b="1" sz="12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3733800" y="2000250"/>
              <a:ext cx="9525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 cap="flat" cmpd="sng" w="1430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2"/>
            <p:cNvSpPr txBox="1"/>
            <p:nvPr/>
          </p:nvSpPr>
          <p:spPr>
            <a:xfrm>
              <a:off x="3733800" y="200025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Text</a:t>
              </a:r>
              <a:endParaRPr b="1" sz="12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321" name="Google Shape;321;p22"/>
            <p:cNvGrpSpPr/>
            <p:nvPr/>
          </p:nvGrpSpPr>
          <p:grpSpPr>
            <a:xfrm>
              <a:off x="1238250" y="3143250"/>
              <a:ext cx="2771775" cy="228600"/>
              <a:chOff x="0" y="0"/>
              <a:chExt cx="2771775" cy="228600"/>
            </a:xfrm>
          </p:grpSpPr>
          <p:sp>
            <p:nvSpPr>
              <p:cNvPr id="322" name="Google Shape;322;p22"/>
              <p:cNvSpPr/>
              <p:nvPr/>
            </p:nvSpPr>
            <p:spPr>
              <a:xfrm>
                <a:off x="0" y="38100"/>
                <a:ext cx="152400" cy="152400"/>
              </a:xfrm>
              <a:prstGeom prst="roundRect">
                <a:avLst>
                  <a:gd fmla="val 18750" name="adj"/>
                </a:avLst>
              </a:prstGeom>
              <a:solidFill>
                <a:srgbClr val="F5851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2"/>
              <p:cNvSpPr txBox="1"/>
              <p:nvPr/>
            </p:nvSpPr>
            <p:spPr>
              <a:xfrm>
                <a:off x="247650" y="0"/>
                <a:ext cx="1047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= contenedor</a:t>
                </a:r>
                <a:endParaRPr b="0" sz="9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24" name="Google Shape;324;p22"/>
              <p:cNvSpPr/>
              <p:nvPr/>
            </p:nvSpPr>
            <p:spPr>
              <a:xfrm>
                <a:off x="1381125" y="38100"/>
                <a:ext cx="152400" cy="152400"/>
              </a:xfrm>
              <a:prstGeom prst="roundRect">
                <a:avLst>
                  <a:gd fmla="val 18750" name="adj"/>
                </a:avLst>
              </a:prstGeom>
              <a:solidFill>
                <a:srgbClr val="EFF6FF"/>
              </a:solidFill>
              <a:ln cap="flat" cmpd="sng" w="14300">
                <a:solidFill>
                  <a:srgbClr val="BFDB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22"/>
              <p:cNvSpPr txBox="1"/>
              <p:nvPr/>
            </p:nvSpPr>
            <p:spPr>
              <a:xfrm>
                <a:off x="1628775" y="0"/>
                <a:ext cx="1143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= primitiva</a:t>
                </a:r>
                <a:endParaRPr b="0" sz="95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326" name="Google Shape;326;p22"/>
          <p:cNvGrpSpPr/>
          <p:nvPr/>
        </p:nvGrpSpPr>
        <p:grpSpPr>
          <a:xfrm>
            <a:off x="6324600" y="1476375"/>
            <a:ext cx="5257800" cy="4048200"/>
            <a:chOff x="0" y="0"/>
            <a:chExt cx="5257800" cy="4048200"/>
          </a:xfrm>
        </p:grpSpPr>
        <p:sp>
          <p:nvSpPr>
            <p:cNvPr id="327" name="Google Shape;327;p22"/>
            <p:cNvSpPr/>
            <p:nvPr/>
          </p:nvSpPr>
          <p:spPr>
            <a:xfrm>
              <a:off x="0" y="0"/>
              <a:ext cx="5257800" cy="4048200"/>
            </a:xfrm>
            <a:prstGeom prst="roundRect">
              <a:avLst>
                <a:gd fmla="val 18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2"/>
            <p:cNvSpPr txBox="1"/>
            <p:nvPr/>
          </p:nvSpPr>
          <p:spPr>
            <a:xfrm>
              <a:off x="304800" y="304800"/>
              <a:ext cx="46482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Primitivas: </a:t>
              </a: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Line2D, Rectangle, Text.</a:t>
              </a:r>
              <a:endParaRPr b="1" sz="1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Contenedores: </a:t>
              </a: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Figure, Axes, Axis. Agrupan a otros artistas.</a:t>
              </a:r>
              <a:endParaRPr b="1" sz="1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Cada Artist conoce sus coordenadas y se dibuja a sí mismo cuando recibe un Renderer.</a:t>
              </a:r>
              <a:endParaRPr b="0" sz="11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29" name="Google Shape;329;p22"/>
          <p:cNvSpPr/>
          <p:nvPr/>
        </p:nvSpPr>
        <p:spPr>
          <a:xfrm>
            <a:off x="609600" y="5762625"/>
            <a:ext cx="10972800" cy="571500"/>
          </a:xfrm>
          <a:prstGeom prst="roundRect">
            <a:avLst>
              <a:gd fmla="val 13333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800100" y="5857875"/>
            <a:ext cx="1059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Axes</a:t>
            </a:r>
            <a:r>
              <a:rPr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= área de dibujo con su sistema de coordenadas. </a:t>
            </a: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Axis</a:t>
            </a:r>
            <a:r>
              <a:rPr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= eje X o eje Y.</a:t>
            </a:r>
            <a:endParaRPr sz="1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609600" y="428625"/>
            <a:ext cx="1097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INGENIERÍA DE SOFTWARE</a:t>
            </a:r>
            <a:endParaRPr b="1" sz="10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23"/>
          <p:cNvSpPr txBox="1"/>
          <p:nvPr/>
        </p:nvSpPr>
        <p:spPr>
          <a:xfrm>
            <a:off x="609600" y="714375"/>
            <a:ext cx="10972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Scripting Layer: pyplot y la interfaz orientada a objetos</a:t>
            </a:r>
            <a:endParaRPr b="1" sz="30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338" name="Google Shape;338;p23"/>
          <p:cNvGrpSpPr/>
          <p:nvPr/>
        </p:nvGrpSpPr>
        <p:grpSpPr>
          <a:xfrm>
            <a:off x="609600" y="1476375"/>
            <a:ext cx="5257800" cy="4048200"/>
            <a:chOff x="0" y="0"/>
            <a:chExt cx="5257800" cy="4048200"/>
          </a:xfrm>
        </p:grpSpPr>
        <p:sp>
          <p:nvSpPr>
            <p:cNvPr id="339" name="Google Shape;339;p23"/>
            <p:cNvSpPr/>
            <p:nvPr/>
          </p:nvSpPr>
          <p:spPr>
            <a:xfrm>
              <a:off x="0" y="0"/>
              <a:ext cx="5257800" cy="4048200"/>
            </a:xfrm>
            <a:prstGeom prst="roundRect">
              <a:avLst>
                <a:gd fmla="val 18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3"/>
            <p:cNvSpPr txBox="1"/>
            <p:nvPr/>
          </p:nvSpPr>
          <p:spPr>
            <a:xfrm>
              <a:off x="228600" y="228600"/>
              <a:ext cx="4800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pyplot (estado global)</a:t>
              </a:r>
              <a:endParaRPr b="1" sz="18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1" name="Google Shape;341;p23"/>
            <p:cNvSpPr txBox="1"/>
            <p:nvPr/>
          </p:nvSpPr>
          <p:spPr>
            <a:xfrm>
              <a:off x="228600" y="647700"/>
              <a:ext cx="48006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16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Imita a MATLAB.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Recuerda la figura y los ejes actuales.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475569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Cómodo en scripts cortos; ambiguo en código grande.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2" name="Google Shape;342;p23"/>
            <p:cNvSpPr/>
            <p:nvPr/>
          </p:nvSpPr>
          <p:spPr>
            <a:xfrm>
              <a:off x="228600" y="2047875"/>
              <a:ext cx="4800600" cy="1714500"/>
            </a:xfrm>
            <a:prstGeom prst="roundRect">
              <a:avLst>
                <a:gd fmla="val 3333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3"/>
            <p:cNvSpPr txBox="1"/>
            <p:nvPr/>
          </p:nvSpPr>
          <p:spPr>
            <a:xfrm>
              <a:off x="228600" y="2047875"/>
              <a:ext cx="4800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Fira Code"/>
                  <a:ea typeface="Fira Code"/>
                  <a:cs typeface="Fira Code"/>
                  <a:sym typeface="Fira Code"/>
                </a:rPr>
                <a:t># Estilo procedimental / estado global</a:t>
              </a:r>
              <a:endParaRPr b="0" sz="100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F43F5E"/>
                  </a:solidFill>
                  <a:latin typeface="Fira Code"/>
                  <a:ea typeface="Fira Code"/>
                  <a:cs typeface="Fira Code"/>
                  <a:sym typeface="Fira Code"/>
                </a:rPr>
                <a:t>import</a:t>
              </a:r>
              <a:r>
                <a:rPr b="0" lang="en-US" sz="10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 matplotlib.pyplot </a:t>
              </a:r>
              <a:r>
                <a:rPr b="0" lang="en-US" sz="1000">
                  <a:solidFill>
                    <a:srgbClr val="F43F5E"/>
                  </a:solidFill>
                  <a:latin typeface="Fira Code"/>
                  <a:ea typeface="Fira Code"/>
                  <a:cs typeface="Fira Code"/>
                  <a:sym typeface="Fira Code"/>
                </a:rPr>
                <a:t>as</a:t>
              </a:r>
              <a:r>
                <a:rPr b="0" lang="en-US" sz="10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 plt</a:t>
              </a:r>
              <a:endParaRPr b="0" sz="100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plt.plot([1, 2, 3], [1, 4, 9])</a:t>
              </a:r>
              <a:endParaRPr b="0" sz="100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plt.title(</a:t>
              </a:r>
              <a:r>
                <a:rPr b="0" lang="en-US" sz="1000">
                  <a:solidFill>
                    <a:srgbClr val="A3E635"/>
                  </a:solidFill>
                  <a:latin typeface="Fira Code"/>
                  <a:ea typeface="Fira Code"/>
                  <a:cs typeface="Fira Code"/>
                  <a:sym typeface="Fira Code"/>
                </a:rPr>
                <a:t>"pyplot"</a:t>
              </a:r>
              <a:r>
                <a:rPr b="0" lang="en-US" sz="10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)</a:t>
              </a:r>
              <a:endParaRPr b="0" sz="100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plt.show()</a:t>
              </a:r>
              <a:endParaRPr b="0" sz="100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344" name="Google Shape;344;p23"/>
          <p:cNvGrpSpPr/>
          <p:nvPr/>
        </p:nvGrpSpPr>
        <p:grpSpPr>
          <a:xfrm>
            <a:off x="6324600" y="1476375"/>
            <a:ext cx="5257800" cy="4048200"/>
            <a:chOff x="0" y="0"/>
            <a:chExt cx="5257800" cy="4048200"/>
          </a:xfrm>
        </p:grpSpPr>
        <p:sp>
          <p:nvSpPr>
            <p:cNvPr id="345" name="Google Shape;345;p23"/>
            <p:cNvSpPr/>
            <p:nvPr/>
          </p:nvSpPr>
          <p:spPr>
            <a:xfrm>
              <a:off x="0" y="0"/>
              <a:ext cx="5257800" cy="4048200"/>
            </a:xfrm>
            <a:prstGeom prst="roundRect">
              <a:avLst>
                <a:gd fmla="val 18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3"/>
            <p:cNvSpPr txBox="1"/>
            <p:nvPr/>
          </p:nvSpPr>
          <p:spPr>
            <a:xfrm>
              <a:off x="228600" y="228600"/>
              <a:ext cx="4800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Orientado a objetos (explícito)</a:t>
              </a:r>
              <a:endParaRPr b="1" sz="18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7" name="Google Shape;347;p23"/>
            <p:cNvSpPr txBox="1"/>
            <p:nvPr/>
          </p:nvSpPr>
          <p:spPr>
            <a:xfrm>
              <a:off x="228600" y="647700"/>
              <a:ext cx="48006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16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plt.subplots() crea la Figure y los Axes.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 trabaja con métodos de cada ax.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475569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Recomendado en software mantenible.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8" name="Google Shape;348;p23"/>
            <p:cNvSpPr/>
            <p:nvPr/>
          </p:nvSpPr>
          <p:spPr>
            <a:xfrm>
              <a:off x="228600" y="2047875"/>
              <a:ext cx="4800600" cy="1714500"/>
            </a:xfrm>
            <a:prstGeom prst="roundRect">
              <a:avLst>
                <a:gd fmla="val 3333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3"/>
            <p:cNvSpPr txBox="1"/>
            <p:nvPr/>
          </p:nvSpPr>
          <p:spPr>
            <a:xfrm>
              <a:off x="228600" y="2047875"/>
              <a:ext cx="4800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Fira Code"/>
                  <a:ea typeface="Fira Code"/>
                  <a:cs typeface="Fira Code"/>
                  <a:sym typeface="Fira Code"/>
                </a:rPr>
                <a:t># Estilo explícito POO</a:t>
              </a:r>
              <a:endParaRPr b="0" sz="100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F43F5E"/>
                  </a:solidFill>
                  <a:latin typeface="Fira Code"/>
                  <a:ea typeface="Fira Code"/>
                  <a:cs typeface="Fira Code"/>
                  <a:sym typeface="Fira Code"/>
                </a:rPr>
                <a:t>import</a:t>
              </a:r>
              <a:r>
                <a:rPr b="0" lang="en-US" sz="10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 matplotlib.pyplot </a:t>
              </a:r>
              <a:r>
                <a:rPr b="0" lang="en-US" sz="1000">
                  <a:solidFill>
                    <a:srgbClr val="F43F5E"/>
                  </a:solidFill>
                  <a:latin typeface="Fira Code"/>
                  <a:ea typeface="Fira Code"/>
                  <a:cs typeface="Fira Code"/>
                  <a:sym typeface="Fira Code"/>
                </a:rPr>
                <a:t>as</a:t>
              </a:r>
              <a:r>
                <a:rPr b="0" lang="en-US" sz="10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 plt</a:t>
              </a:r>
              <a:endParaRPr b="0" sz="100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fig, ax = plt.subplots()</a:t>
              </a:r>
              <a:endParaRPr b="0" sz="100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ax.plot([1, 2, 3], [1, 4, 9])</a:t>
              </a:r>
              <a:endParaRPr b="0" sz="100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ax.set_title(</a:t>
              </a:r>
              <a:r>
                <a:rPr b="0" lang="en-US" sz="1000">
                  <a:solidFill>
                    <a:srgbClr val="A3E635"/>
                  </a:solidFill>
                  <a:latin typeface="Fira Code"/>
                  <a:ea typeface="Fira Code"/>
                  <a:cs typeface="Fira Code"/>
                  <a:sym typeface="Fira Code"/>
                </a:rPr>
                <a:t>"Orientado a objetos"</a:t>
              </a:r>
              <a:r>
                <a:rPr b="0" lang="en-US" sz="10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)</a:t>
              </a:r>
              <a:endParaRPr b="0" sz="100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38BDF8"/>
                  </a:solidFill>
                  <a:latin typeface="Fira Code"/>
                  <a:ea typeface="Fira Code"/>
                  <a:cs typeface="Fira Code"/>
                  <a:sym typeface="Fira Code"/>
                </a:rPr>
                <a:t>plt.show()</a:t>
              </a:r>
              <a:endParaRPr b="0" sz="100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350" name="Google Shape;350;p23"/>
          <p:cNvSpPr/>
          <p:nvPr/>
        </p:nvSpPr>
        <p:spPr>
          <a:xfrm>
            <a:off x="609600" y="5762625"/>
            <a:ext cx="10972800" cy="571500"/>
          </a:xfrm>
          <a:prstGeom prst="roundRect">
            <a:avLst>
              <a:gd fmla="val 13333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3"/>
          <p:cNvSpPr txBox="1"/>
          <p:nvPr/>
        </p:nvSpPr>
        <p:spPr>
          <a:xfrm>
            <a:off x="800100" y="5857875"/>
            <a:ext cx="1059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Resumen: </a:t>
            </a:r>
            <a:r>
              <a:rPr b="0" lang="en-US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como un taller de impresión. pyplot es el pedido al asistente, Artist es el diseñador y el backend es la imprenta.</a:t>
            </a:r>
            <a:endParaRPr b="1" sz="1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4"/>
          <p:cNvSpPr txBox="1"/>
          <p:nvPr/>
        </p:nvSpPr>
        <p:spPr>
          <a:xfrm>
            <a:off x="609600" y="304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INGENIERÍA DE SOFTWARE</a:t>
            </a:r>
            <a:endParaRPr b="1" sz="10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8" name="Google Shape;358;p24"/>
          <p:cNvSpPr txBox="1"/>
          <p:nvPr/>
        </p:nvSpPr>
        <p:spPr>
          <a:xfrm>
            <a:off x="609600" y="533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Matplotlib: tipos de gráficos y sintaxis</a:t>
            </a:r>
            <a:endParaRPr b="1" sz="26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359" name="Google Shape;359;p24"/>
          <p:cNvGrpSpPr/>
          <p:nvPr/>
        </p:nvGrpSpPr>
        <p:grpSpPr>
          <a:xfrm>
            <a:off x="609600" y="1095375"/>
            <a:ext cx="10972800" cy="4133850"/>
            <a:chOff x="0" y="0"/>
            <a:chExt cx="10972800" cy="4133850"/>
          </a:xfrm>
        </p:grpSpPr>
        <p:sp>
          <p:nvSpPr>
            <p:cNvPr id="360" name="Google Shape;360;p24"/>
            <p:cNvSpPr/>
            <p:nvPr/>
          </p:nvSpPr>
          <p:spPr>
            <a:xfrm>
              <a:off x="0" y="0"/>
              <a:ext cx="10972800" cy="362100"/>
            </a:xfrm>
            <a:prstGeom prst="roundRect">
              <a:avLst>
                <a:gd fmla="val 15789" name="adj"/>
              </a:avLst>
            </a:prstGeom>
            <a:solidFill>
              <a:srgbClr val="F585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4"/>
            <p:cNvSpPr txBox="1"/>
            <p:nvPr/>
          </p:nvSpPr>
          <p:spPr>
            <a:xfrm>
              <a:off x="190500" y="85725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Familia</a:t>
              </a:r>
              <a:endParaRPr b="1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2" name="Google Shape;362;p24"/>
            <p:cNvSpPr txBox="1"/>
            <p:nvPr/>
          </p:nvSpPr>
          <p:spPr>
            <a:xfrm>
              <a:off x="2381250" y="85725"/>
              <a:ext cx="2667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Función</a:t>
              </a:r>
              <a:endParaRPr b="1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3" name="Google Shape;363;p24"/>
            <p:cNvSpPr txBox="1"/>
            <p:nvPr/>
          </p:nvSpPr>
          <p:spPr>
            <a:xfrm>
              <a:off x="5238750" y="85725"/>
              <a:ext cx="552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Sintaxis básica</a:t>
              </a:r>
              <a:endParaRPr b="1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364" name="Google Shape;364;p24"/>
            <p:cNvGrpSpPr/>
            <p:nvPr/>
          </p:nvGrpSpPr>
          <p:grpSpPr>
            <a:xfrm>
              <a:off x="0" y="409575"/>
              <a:ext cx="10972800" cy="400200"/>
              <a:chOff x="0" y="0"/>
              <a:chExt cx="10972800" cy="400200"/>
            </a:xfrm>
          </p:grpSpPr>
          <p:sp>
            <p:nvSpPr>
              <p:cNvPr id="365" name="Google Shape;365;p24"/>
              <p:cNvSpPr/>
              <p:nvPr/>
            </p:nvSpPr>
            <p:spPr>
              <a:xfrm>
                <a:off x="0" y="0"/>
                <a:ext cx="109728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4"/>
              <p:cNvSpPr txBox="1"/>
              <p:nvPr/>
            </p:nvSpPr>
            <p:spPr>
              <a:xfrm>
                <a:off x="190500" y="104775"/>
                <a:ext cx="2095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Líneas</a:t>
                </a:r>
                <a:endParaRPr b="0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67" name="Google Shape;367;p24"/>
              <p:cNvSpPr txBox="1"/>
              <p:nvPr/>
            </p:nvSpPr>
            <p:spPr>
              <a:xfrm>
                <a:off x="2381250" y="104775"/>
                <a:ext cx="2667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25">
                    <a:solidFill>
                      <a:srgbClr val="2563EB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ax.plot</a:t>
                </a:r>
                <a:endParaRPr b="0" sz="925">
                  <a:solidFill>
                    <a:srgbClr val="2563EB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</p:txBody>
          </p:sp>
          <p:sp>
            <p:nvSpPr>
              <p:cNvPr id="368" name="Google Shape;368;p24"/>
              <p:cNvSpPr txBox="1"/>
              <p:nvPr/>
            </p:nvSpPr>
            <p:spPr>
              <a:xfrm>
                <a:off x="5238750" y="104775"/>
                <a:ext cx="552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0F172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ax.plot(x, y, label="serie", color="tab:blue")</a:t>
                </a:r>
                <a:endParaRPr b="0" sz="12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369" name="Google Shape;369;p24"/>
            <p:cNvGrpSpPr/>
            <p:nvPr/>
          </p:nvGrpSpPr>
          <p:grpSpPr>
            <a:xfrm>
              <a:off x="0" y="857250"/>
              <a:ext cx="10972800" cy="400200"/>
              <a:chOff x="0" y="0"/>
              <a:chExt cx="10972800" cy="400200"/>
            </a:xfrm>
          </p:grpSpPr>
          <p:sp>
            <p:nvSpPr>
              <p:cNvPr id="370" name="Google Shape;370;p24"/>
              <p:cNvSpPr/>
              <p:nvPr/>
            </p:nvSpPr>
            <p:spPr>
              <a:xfrm>
                <a:off x="0" y="0"/>
                <a:ext cx="109728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4"/>
              <p:cNvSpPr txBox="1"/>
              <p:nvPr/>
            </p:nvSpPr>
            <p:spPr>
              <a:xfrm>
                <a:off x="190500" y="104775"/>
                <a:ext cx="2095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Dispersión</a:t>
                </a:r>
                <a:endParaRPr b="0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72" name="Google Shape;372;p24"/>
              <p:cNvSpPr txBox="1"/>
              <p:nvPr/>
            </p:nvSpPr>
            <p:spPr>
              <a:xfrm>
                <a:off x="2381250" y="104775"/>
                <a:ext cx="2667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25">
                    <a:solidFill>
                      <a:srgbClr val="2563EB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ax.scatter</a:t>
                </a:r>
                <a:endParaRPr b="0" sz="925">
                  <a:solidFill>
                    <a:srgbClr val="2563EB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</p:txBody>
          </p:sp>
          <p:sp>
            <p:nvSpPr>
              <p:cNvPr id="373" name="Google Shape;373;p24"/>
              <p:cNvSpPr txBox="1"/>
              <p:nvPr/>
            </p:nvSpPr>
            <p:spPr>
              <a:xfrm>
                <a:off x="5238750" y="104775"/>
                <a:ext cx="552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0F172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ax.scatter(x, y, s=tamaños, c=colores)</a:t>
                </a:r>
                <a:endParaRPr b="0" sz="12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374" name="Google Shape;374;p24"/>
            <p:cNvGrpSpPr/>
            <p:nvPr/>
          </p:nvGrpSpPr>
          <p:grpSpPr>
            <a:xfrm>
              <a:off x="0" y="1304925"/>
              <a:ext cx="10972800" cy="400200"/>
              <a:chOff x="0" y="0"/>
              <a:chExt cx="10972800" cy="400200"/>
            </a:xfrm>
          </p:grpSpPr>
          <p:sp>
            <p:nvSpPr>
              <p:cNvPr id="375" name="Google Shape;375;p24"/>
              <p:cNvSpPr/>
              <p:nvPr/>
            </p:nvSpPr>
            <p:spPr>
              <a:xfrm>
                <a:off x="0" y="0"/>
                <a:ext cx="109728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4"/>
              <p:cNvSpPr txBox="1"/>
              <p:nvPr/>
            </p:nvSpPr>
            <p:spPr>
              <a:xfrm>
                <a:off x="190500" y="104775"/>
                <a:ext cx="2095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Barras</a:t>
                </a:r>
                <a:endParaRPr b="0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77" name="Google Shape;377;p24"/>
              <p:cNvSpPr txBox="1"/>
              <p:nvPr/>
            </p:nvSpPr>
            <p:spPr>
              <a:xfrm>
                <a:off x="2381250" y="104775"/>
                <a:ext cx="2667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25">
                    <a:solidFill>
                      <a:srgbClr val="2563EB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ax.bar / ax.barh</a:t>
                </a:r>
                <a:endParaRPr b="0" sz="925">
                  <a:solidFill>
                    <a:srgbClr val="2563EB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</p:txBody>
          </p:sp>
          <p:sp>
            <p:nvSpPr>
              <p:cNvPr id="378" name="Google Shape;378;p24"/>
              <p:cNvSpPr txBox="1"/>
              <p:nvPr/>
            </p:nvSpPr>
            <p:spPr>
              <a:xfrm>
                <a:off x="5238750" y="104775"/>
                <a:ext cx="552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0F172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ax.bar(categorias, alturas)</a:t>
                </a:r>
                <a:endParaRPr b="0" sz="12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379" name="Google Shape;379;p24"/>
            <p:cNvGrpSpPr/>
            <p:nvPr/>
          </p:nvGrpSpPr>
          <p:grpSpPr>
            <a:xfrm>
              <a:off x="0" y="1752600"/>
              <a:ext cx="10972800" cy="400200"/>
              <a:chOff x="0" y="0"/>
              <a:chExt cx="10972800" cy="400200"/>
            </a:xfrm>
          </p:grpSpPr>
          <p:sp>
            <p:nvSpPr>
              <p:cNvPr id="380" name="Google Shape;380;p24"/>
              <p:cNvSpPr/>
              <p:nvPr/>
            </p:nvSpPr>
            <p:spPr>
              <a:xfrm>
                <a:off x="0" y="0"/>
                <a:ext cx="109728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4"/>
              <p:cNvSpPr txBox="1"/>
              <p:nvPr/>
            </p:nvSpPr>
            <p:spPr>
              <a:xfrm>
                <a:off x="190500" y="104775"/>
                <a:ext cx="2095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Histograma</a:t>
                </a:r>
                <a:endParaRPr b="0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82" name="Google Shape;382;p24"/>
              <p:cNvSpPr txBox="1"/>
              <p:nvPr/>
            </p:nvSpPr>
            <p:spPr>
              <a:xfrm>
                <a:off x="2381250" y="104775"/>
                <a:ext cx="2667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25">
                    <a:solidFill>
                      <a:srgbClr val="2563EB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ax.hist</a:t>
                </a:r>
                <a:endParaRPr b="0" sz="925">
                  <a:solidFill>
                    <a:srgbClr val="2563EB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</p:txBody>
          </p:sp>
          <p:sp>
            <p:nvSpPr>
              <p:cNvPr id="383" name="Google Shape;383;p24"/>
              <p:cNvSpPr txBox="1"/>
              <p:nvPr/>
            </p:nvSpPr>
            <p:spPr>
              <a:xfrm>
                <a:off x="5238750" y="104775"/>
                <a:ext cx="552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0F172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ax.hist(datos, bins=20)</a:t>
                </a:r>
                <a:endParaRPr b="0" sz="12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384" name="Google Shape;384;p24"/>
            <p:cNvGrpSpPr/>
            <p:nvPr/>
          </p:nvGrpSpPr>
          <p:grpSpPr>
            <a:xfrm>
              <a:off x="0" y="2200275"/>
              <a:ext cx="10972800" cy="400200"/>
              <a:chOff x="0" y="0"/>
              <a:chExt cx="10972800" cy="400200"/>
            </a:xfrm>
          </p:grpSpPr>
          <p:sp>
            <p:nvSpPr>
              <p:cNvPr id="385" name="Google Shape;385;p24"/>
              <p:cNvSpPr/>
              <p:nvPr/>
            </p:nvSpPr>
            <p:spPr>
              <a:xfrm>
                <a:off x="0" y="0"/>
                <a:ext cx="109728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4"/>
              <p:cNvSpPr txBox="1"/>
              <p:nvPr/>
            </p:nvSpPr>
            <p:spPr>
              <a:xfrm>
                <a:off x="190500" y="104775"/>
                <a:ext cx="2095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Cajas</a:t>
                </a:r>
                <a:endParaRPr b="0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87" name="Google Shape;387;p24"/>
              <p:cNvSpPr txBox="1"/>
              <p:nvPr/>
            </p:nvSpPr>
            <p:spPr>
              <a:xfrm>
                <a:off x="2381250" y="104775"/>
                <a:ext cx="2667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25">
                    <a:solidFill>
                      <a:srgbClr val="2563EB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ax.boxplot</a:t>
                </a:r>
                <a:endParaRPr b="0" sz="925">
                  <a:solidFill>
                    <a:srgbClr val="2563EB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</p:txBody>
          </p:sp>
          <p:sp>
            <p:nvSpPr>
              <p:cNvPr id="388" name="Google Shape;388;p24"/>
              <p:cNvSpPr txBox="1"/>
              <p:nvPr/>
            </p:nvSpPr>
            <p:spPr>
              <a:xfrm>
                <a:off x="5238750" y="104775"/>
                <a:ext cx="552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0F172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ax.boxplot(datos)</a:t>
                </a:r>
                <a:endParaRPr b="0" sz="12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389" name="Google Shape;389;p24"/>
            <p:cNvGrpSpPr/>
            <p:nvPr/>
          </p:nvGrpSpPr>
          <p:grpSpPr>
            <a:xfrm>
              <a:off x="0" y="2647950"/>
              <a:ext cx="10972800" cy="400200"/>
              <a:chOff x="0" y="0"/>
              <a:chExt cx="10972800" cy="400200"/>
            </a:xfrm>
          </p:grpSpPr>
          <p:sp>
            <p:nvSpPr>
              <p:cNvPr id="390" name="Google Shape;390;p24"/>
              <p:cNvSpPr/>
              <p:nvPr/>
            </p:nvSpPr>
            <p:spPr>
              <a:xfrm>
                <a:off x="0" y="0"/>
                <a:ext cx="109728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4"/>
              <p:cNvSpPr txBox="1"/>
              <p:nvPr/>
            </p:nvSpPr>
            <p:spPr>
              <a:xfrm>
                <a:off x="190500" y="104775"/>
                <a:ext cx="2095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Imágenes / mapas de calor</a:t>
                </a:r>
                <a:endParaRPr b="0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92" name="Google Shape;392;p24"/>
              <p:cNvSpPr txBox="1"/>
              <p:nvPr/>
            </p:nvSpPr>
            <p:spPr>
              <a:xfrm>
                <a:off x="2381250" y="104775"/>
                <a:ext cx="2667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25">
                    <a:solidFill>
                      <a:srgbClr val="2563EB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ax.imshow</a:t>
                </a:r>
                <a:endParaRPr b="0" sz="925">
                  <a:solidFill>
                    <a:srgbClr val="2563EB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</p:txBody>
          </p:sp>
          <p:sp>
            <p:nvSpPr>
              <p:cNvPr id="393" name="Google Shape;393;p24"/>
              <p:cNvSpPr txBox="1"/>
              <p:nvPr/>
            </p:nvSpPr>
            <p:spPr>
              <a:xfrm>
                <a:off x="5238750" y="104775"/>
                <a:ext cx="552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0F172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ax.imshow(matriz, cmap="viridis")</a:t>
                </a:r>
                <a:endParaRPr b="0" sz="12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394" name="Google Shape;394;p24"/>
            <p:cNvGrpSpPr/>
            <p:nvPr/>
          </p:nvGrpSpPr>
          <p:grpSpPr>
            <a:xfrm>
              <a:off x="0" y="3095625"/>
              <a:ext cx="10972800" cy="495300"/>
              <a:chOff x="0" y="0"/>
              <a:chExt cx="10972800" cy="495300"/>
            </a:xfrm>
          </p:grpSpPr>
          <p:sp>
            <p:nvSpPr>
              <p:cNvPr id="395" name="Google Shape;395;p24"/>
              <p:cNvSpPr/>
              <p:nvPr/>
            </p:nvSpPr>
            <p:spPr>
              <a:xfrm>
                <a:off x="0" y="0"/>
                <a:ext cx="10972800" cy="495300"/>
              </a:xfrm>
              <a:prstGeom prst="roundRect">
                <a:avLst>
                  <a:gd fmla="val 1153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24"/>
              <p:cNvSpPr txBox="1"/>
              <p:nvPr/>
            </p:nvSpPr>
            <p:spPr>
              <a:xfrm>
                <a:off x="190500" y="152400"/>
                <a:ext cx="2095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Personalización</a:t>
                </a:r>
                <a:endParaRPr b="0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97" name="Google Shape;397;p24"/>
              <p:cNvSpPr txBox="1"/>
              <p:nvPr/>
            </p:nvSpPr>
            <p:spPr>
              <a:xfrm>
                <a:off x="2381250" y="76200"/>
                <a:ext cx="26670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25">
                    <a:solidFill>
                      <a:srgbClr val="2563EB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ax.set_title, set_xlabel, set_ylabel, set_xlim, legend, grid, annotate</a:t>
                </a:r>
                <a:endParaRPr b="0" sz="925">
                  <a:solidFill>
                    <a:srgbClr val="2563EB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</p:txBody>
          </p:sp>
          <p:sp>
            <p:nvSpPr>
              <p:cNvPr id="398" name="Google Shape;398;p24"/>
              <p:cNvSpPr txBox="1"/>
              <p:nvPr/>
            </p:nvSpPr>
            <p:spPr>
              <a:xfrm>
                <a:off x="5238750" y="152400"/>
                <a:ext cx="552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0F172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ax.set_title("Título")</a:t>
                </a:r>
                <a:endParaRPr b="0" sz="12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399" name="Google Shape;399;p24"/>
            <p:cNvGrpSpPr/>
            <p:nvPr/>
          </p:nvGrpSpPr>
          <p:grpSpPr>
            <a:xfrm>
              <a:off x="0" y="3638550"/>
              <a:ext cx="10972800" cy="495300"/>
              <a:chOff x="0" y="0"/>
              <a:chExt cx="10972800" cy="495300"/>
            </a:xfrm>
          </p:grpSpPr>
          <p:sp>
            <p:nvSpPr>
              <p:cNvPr id="400" name="Google Shape;400;p24"/>
              <p:cNvSpPr/>
              <p:nvPr/>
            </p:nvSpPr>
            <p:spPr>
              <a:xfrm>
                <a:off x="0" y="0"/>
                <a:ext cx="10972800" cy="495300"/>
              </a:xfrm>
              <a:prstGeom prst="roundRect">
                <a:avLst>
                  <a:gd fmla="val 1153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4"/>
              <p:cNvSpPr txBox="1"/>
              <p:nvPr/>
            </p:nvSpPr>
            <p:spPr>
              <a:xfrm>
                <a:off x="190500" y="152400"/>
                <a:ext cx="2095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Disposición y salida</a:t>
                </a:r>
                <a:endParaRPr b="0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02" name="Google Shape;402;p24"/>
              <p:cNvSpPr txBox="1"/>
              <p:nvPr/>
            </p:nvSpPr>
            <p:spPr>
              <a:xfrm>
                <a:off x="2381250" y="76200"/>
                <a:ext cx="26670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25">
                    <a:solidFill>
                      <a:srgbClr val="2563EB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plt.subplots, fig.tight_layout, fig.savefig</a:t>
                </a:r>
                <a:endParaRPr b="0" sz="925">
                  <a:solidFill>
                    <a:srgbClr val="2563EB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</p:txBody>
          </p:sp>
          <p:sp>
            <p:nvSpPr>
              <p:cNvPr id="403" name="Google Shape;403;p24"/>
              <p:cNvSpPr txBox="1"/>
              <p:nvPr/>
            </p:nvSpPr>
            <p:spPr>
              <a:xfrm>
                <a:off x="5238750" y="152400"/>
                <a:ext cx="552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0F172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fig.savefig("grafico.pdf")</a:t>
                </a:r>
                <a:endParaRPr b="0" sz="12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grpSp>
        <p:nvGrpSpPr>
          <p:cNvPr id="404" name="Google Shape;404;p24"/>
          <p:cNvGrpSpPr/>
          <p:nvPr/>
        </p:nvGrpSpPr>
        <p:grpSpPr>
          <a:xfrm>
            <a:off x="609600" y="5905500"/>
            <a:ext cx="10972800" cy="514500"/>
            <a:chOff x="0" y="0"/>
            <a:chExt cx="10972800" cy="514500"/>
          </a:xfrm>
        </p:grpSpPr>
        <p:sp>
          <p:nvSpPr>
            <p:cNvPr id="405" name="Google Shape;405;p24"/>
            <p:cNvSpPr/>
            <p:nvPr/>
          </p:nvSpPr>
          <p:spPr>
            <a:xfrm>
              <a:off x="0" y="0"/>
              <a:ext cx="10972800" cy="514500"/>
            </a:xfrm>
            <a:prstGeom prst="roundRect">
              <a:avLst>
                <a:gd fmla="val 14814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4"/>
            <p:cNvSpPr txBox="1"/>
            <p:nvPr/>
          </p:nvSpPr>
          <p:spPr>
            <a:xfrm>
              <a:off x="190500" y="161925"/>
              <a:ext cx="10591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Patrón:</a:t>
              </a:r>
              <a:r>
                <a:rPr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ax.tipo_de_gráfico(datos, parámetros) y luego ax.set_*() para etiquetar.</a:t>
              </a:r>
              <a:endParaRPr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2" name="Google Shape;412;p25"/>
          <p:cNvGrpSpPr/>
          <p:nvPr/>
        </p:nvGrpSpPr>
        <p:grpSpPr>
          <a:xfrm>
            <a:off x="609600" y="296612"/>
            <a:ext cx="5334000" cy="6264786"/>
            <a:chOff x="0" y="-796176"/>
            <a:chExt cx="5334000" cy="6190500"/>
          </a:xfrm>
        </p:grpSpPr>
        <p:sp>
          <p:nvSpPr>
            <p:cNvPr id="413" name="Google Shape;413;p25"/>
            <p:cNvSpPr/>
            <p:nvPr/>
          </p:nvSpPr>
          <p:spPr>
            <a:xfrm>
              <a:off x="0" y="0"/>
              <a:ext cx="5334000" cy="5048400"/>
            </a:xfrm>
            <a:prstGeom prst="roundRect">
              <a:avLst>
                <a:gd fmla="val 15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5"/>
            <p:cNvSpPr/>
            <p:nvPr/>
          </p:nvSpPr>
          <p:spPr>
            <a:xfrm>
              <a:off x="0" y="-796176"/>
              <a:ext cx="5334000" cy="6190500"/>
            </a:xfrm>
            <a:prstGeom prst="roundRect">
              <a:avLst>
                <a:gd fmla="val 1509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5"/>
            <p:cNvSpPr txBox="1"/>
            <p:nvPr/>
          </p:nvSpPr>
          <p:spPr>
            <a:xfrm>
              <a:off x="190500" y="-605686"/>
              <a:ext cx="4953000" cy="60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US" sz="1100">
                  <a:solidFill>
                    <a:srgbClr val="BB9A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import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numpy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i="1" lang="en-US" sz="1100">
                  <a:solidFill>
                    <a:srgbClr val="BB9A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np</a:t>
              </a:r>
              <a:endParaRPr sz="1100">
                <a:solidFill>
                  <a:srgbClr val="DEC76E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US" sz="1100">
                  <a:solidFill>
                    <a:srgbClr val="BB9A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import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matplotlib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1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pyplot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i="1" lang="en-US" sz="1100">
                  <a:solidFill>
                    <a:srgbClr val="BB9A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plt</a:t>
              </a:r>
              <a:endParaRPr sz="1100">
                <a:solidFill>
                  <a:srgbClr val="DEC76E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rgbClr val="DEC76E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fig, axs </a:t>
              </a:r>
              <a:r>
                <a:rPr lang="en-US" sz="1100">
                  <a:solidFill>
                    <a:srgbClr val="EEF2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plt.subplots</a:t>
              </a:r>
              <a:r>
                <a:rPr lang="en-US" sz="1100">
                  <a:solidFill>
                    <a:srgbClr val="EEF2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2, 2, </a:t>
              </a:r>
              <a:r>
                <a:rPr lang="en-US" sz="1100">
                  <a:solidFill>
                    <a:srgbClr val="F43F5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figsize</a:t>
              </a:r>
              <a:r>
                <a:rPr lang="en-US" sz="11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100">
                  <a:solidFill>
                    <a:srgbClr val="EEF2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8,8</a:t>
              </a:r>
              <a:r>
                <a:rPr lang="en-US" sz="1100">
                  <a:solidFill>
                    <a:srgbClr val="EEF2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))</a:t>
              </a:r>
              <a:endParaRPr sz="1100">
                <a:solidFill>
                  <a:srgbClr val="EEF2FF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rgbClr val="DEC76E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plot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x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np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sin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x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), </a:t>
              </a:r>
              <a:r>
                <a:rPr i="1"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label</a:t>
              </a:r>
              <a:r>
                <a:rPr lang="en-US" sz="11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"sin(x)"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plot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x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np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cos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x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), </a:t>
              </a:r>
              <a:r>
                <a:rPr i="1"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label</a:t>
              </a:r>
              <a:r>
                <a:rPr lang="en-US" sz="11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"cos(x)"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set_title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"plot: líneas"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set_xlabel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"x"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legend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bar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([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"A"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"B"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"C"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], 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12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7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15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], </a:t>
              </a:r>
              <a:r>
                <a:rPr i="1"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color</a:t>
              </a:r>
              <a:r>
                <a:rPr lang="en-US" sz="11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"#4C78A8"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set_title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"bar: barras"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set_ylabel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"valor"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i="1" sz="1100">
                <a:solidFill>
                  <a:srgbClr val="4D526B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hist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rng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normal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500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), </a:t>
              </a:r>
              <a:r>
                <a:rPr i="1"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bins</a:t>
              </a:r>
              <a:r>
                <a:rPr lang="en-US" sz="11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20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color</a:t>
              </a:r>
              <a:r>
                <a:rPr lang="en-US" sz="11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"#F58518"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set_title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"hist: histograma"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set_xlabel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"valor"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100">
                <a:solidFill>
                  <a:srgbClr val="4D526B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scatter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x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np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sin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x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 </a:t>
              </a:r>
              <a:r>
                <a:rPr lang="en-US" sz="11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+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rng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normal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0.1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100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), </a:t>
              </a:r>
              <a:r>
                <a:rPr i="1"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color</a:t>
              </a:r>
              <a:r>
                <a:rPr lang="en-US" sz="11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"#54A24B"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alpha</a:t>
              </a:r>
              <a:r>
                <a:rPr lang="en-US" sz="11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0.7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set_title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"scatter: dispersión"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set_xlabel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"x"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axs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1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set_ylabel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1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"sin(x) + ruido"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fig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1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tight_layout</a:t>
              </a:r>
              <a:r>
                <a:rPr lang="en-US" sz="11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()</a:t>
              </a:r>
              <a:endParaRPr sz="11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416" name="Google Shape;41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4975" y="381000"/>
            <a:ext cx="5333999" cy="609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6"/>
          <p:cNvSpPr txBox="1"/>
          <p:nvPr/>
        </p:nvSpPr>
        <p:spPr>
          <a:xfrm>
            <a:off x="609600" y="304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A9D8F"/>
                </a:solidFill>
                <a:latin typeface="Inter"/>
                <a:ea typeface="Inter"/>
                <a:cs typeface="Inter"/>
                <a:sym typeface="Inter"/>
              </a:rPr>
              <a:t>INGENIERÍA ESTADÍSTICA</a:t>
            </a:r>
            <a:endParaRPr b="1" sz="1050">
              <a:solidFill>
                <a:srgbClr val="2A9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26"/>
          <p:cNvSpPr txBox="1"/>
          <p:nvPr/>
        </p:nvSpPr>
        <p:spPr>
          <a:xfrm>
            <a:off x="609600" y="533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Seaborn: estadística de alto nivel sobre Matplotlib</a:t>
            </a:r>
            <a:endParaRPr b="1" sz="26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424" name="Google Shape;424;p26"/>
          <p:cNvGrpSpPr/>
          <p:nvPr/>
        </p:nvGrpSpPr>
        <p:grpSpPr>
          <a:xfrm>
            <a:off x="609600" y="1143000"/>
            <a:ext cx="5334000" cy="3238500"/>
            <a:chOff x="0" y="0"/>
            <a:chExt cx="5334000" cy="3238500"/>
          </a:xfrm>
        </p:grpSpPr>
        <p:sp>
          <p:nvSpPr>
            <p:cNvPr id="425" name="Google Shape;425;p26"/>
            <p:cNvSpPr/>
            <p:nvPr/>
          </p:nvSpPr>
          <p:spPr>
            <a:xfrm>
              <a:off x="0" y="0"/>
              <a:ext cx="53340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6"/>
            <p:cNvSpPr txBox="1"/>
            <p:nvPr/>
          </p:nvSpPr>
          <p:spPr>
            <a:xfrm>
              <a:off x="228600" y="190500"/>
              <a:ext cx="4876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Cómo se usa</a:t>
              </a:r>
              <a:endParaRPr b="1" sz="1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7" name="Google Shape;427;p26"/>
            <p:cNvSpPr txBox="1"/>
            <p:nvPr/>
          </p:nvSpPr>
          <p:spPr>
            <a:xfrm>
              <a:off x="228600" y="533400"/>
              <a:ext cx="4876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Entrada:</a:t>
              </a: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un DataFrame de Pandas en formato tidy (una fila por observación, una columna por variable).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8" name="Google Shape;428;p26"/>
            <p:cNvSpPr/>
            <p:nvPr/>
          </p:nvSpPr>
          <p:spPr>
            <a:xfrm>
              <a:off x="228600" y="1143000"/>
              <a:ext cx="4876800" cy="1809600"/>
            </a:xfrm>
            <a:prstGeom prst="roundRect">
              <a:avLst>
                <a:gd fmla="val 3157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6"/>
            <p:cNvSpPr txBox="1"/>
            <p:nvPr/>
          </p:nvSpPr>
          <p:spPr>
            <a:xfrm>
              <a:off x="381000" y="1295400"/>
              <a:ext cx="4572000" cy="15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2563E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data</a:t>
              </a:r>
              <a:r>
                <a:rPr b="0" lang="en-US" sz="10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= el DataFrame</a:t>
              </a:r>
              <a:endParaRPr b="0" sz="1000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2563E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x, y</a:t>
              </a:r>
              <a:r>
                <a:rPr b="0" lang="en-US" sz="10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= columnas de cada eje</a:t>
              </a:r>
              <a:endParaRPr b="0" sz="1000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2563EB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hue</a:t>
              </a:r>
              <a:r>
                <a:rPr b="0" lang="en-US" sz="10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= columna que define el color</a:t>
              </a:r>
              <a:endParaRPr b="0" sz="1000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430" name="Google Shape;430;p26"/>
          <p:cNvGrpSpPr/>
          <p:nvPr/>
        </p:nvGrpSpPr>
        <p:grpSpPr>
          <a:xfrm>
            <a:off x="6248400" y="1143000"/>
            <a:ext cx="5334000" cy="3238500"/>
            <a:chOff x="0" y="0"/>
            <a:chExt cx="5334000" cy="3238500"/>
          </a:xfrm>
        </p:grpSpPr>
        <p:sp>
          <p:nvSpPr>
            <p:cNvPr id="431" name="Google Shape;431;p26"/>
            <p:cNvSpPr/>
            <p:nvPr/>
          </p:nvSpPr>
          <p:spPr>
            <a:xfrm>
              <a:off x="0" y="0"/>
              <a:ext cx="53340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6"/>
            <p:cNvSpPr txBox="1"/>
            <p:nvPr/>
          </p:nvSpPr>
          <p:spPr>
            <a:xfrm>
              <a:off x="228600" y="190500"/>
              <a:ext cx="4876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Familias de funciones</a:t>
              </a:r>
              <a:endParaRPr b="1" sz="1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33" name="Google Shape;433;p26"/>
            <p:cNvSpPr txBox="1"/>
            <p:nvPr/>
          </p:nvSpPr>
          <p:spPr>
            <a:xfrm>
              <a:off x="228600" y="533400"/>
              <a:ext cx="48768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-US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Relacionales:</a:t>
              </a: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scatterplot, lineplot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-US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Distribución:</a:t>
              </a: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histplot, kdeplot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-US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Categóricas:</a:t>
              </a: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boxplot, barplot, countplot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-US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Regresión:</a:t>
              </a: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regplot, lmplot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-US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Matrices:</a:t>
              </a: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heatmap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b="0" lang="en-US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Grillas:</a:t>
              </a: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pairplot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4" name="Google Shape;434;p26"/>
          <p:cNvGrpSpPr/>
          <p:nvPr/>
        </p:nvGrpSpPr>
        <p:grpSpPr>
          <a:xfrm>
            <a:off x="609600" y="4572000"/>
            <a:ext cx="10972725" cy="5143650"/>
            <a:chOff x="0" y="0"/>
            <a:chExt cx="10972725" cy="5143650"/>
          </a:xfrm>
        </p:grpSpPr>
        <p:sp>
          <p:nvSpPr>
            <p:cNvPr id="435" name="Google Shape;435;p26"/>
            <p:cNvSpPr/>
            <p:nvPr/>
          </p:nvSpPr>
          <p:spPr>
            <a:xfrm>
              <a:off x="0" y="0"/>
              <a:ext cx="24288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2A9D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6"/>
            <p:cNvSpPr/>
            <p:nvPr/>
          </p:nvSpPr>
          <p:spPr>
            <a:xfrm>
              <a:off x="152400" y="152400"/>
              <a:ext cx="304800" cy="304800"/>
            </a:xfrm>
            <a:prstGeom prst="roundRect">
              <a:avLst>
                <a:gd fmla="val 50000" name="adj"/>
              </a:avLst>
            </a:prstGeom>
            <a:solidFill>
              <a:srgbClr val="E6F4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6"/>
            <p:cNvSpPr txBox="1"/>
            <p:nvPr/>
          </p:nvSpPr>
          <p:spPr>
            <a:xfrm>
              <a:off x="257175" y="20955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A9D8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1</a:t>
              </a:r>
              <a:endParaRPr b="1" sz="1200">
                <a:solidFill>
                  <a:srgbClr val="2A9D8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38" name="Google Shape;438;p26"/>
            <p:cNvSpPr txBox="1"/>
            <p:nvPr/>
          </p:nvSpPr>
          <p:spPr>
            <a:xfrm>
              <a:off x="152400" y="533400"/>
              <a:ext cx="2124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Agrega:</a:t>
              </a:r>
              <a:r>
                <a:rPr b="0" lang="en-US" sz="10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agrupa y calcula la media</a:t>
              </a:r>
              <a:endParaRPr b="0" sz="10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39" name="Google Shape;439;p26"/>
            <p:cNvSpPr/>
            <p:nvPr/>
          </p:nvSpPr>
          <p:spPr>
            <a:xfrm>
              <a:off x="3152775" y="5048250"/>
              <a:ext cx="1047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6"/>
            <p:cNvSpPr/>
            <p:nvPr/>
          </p:nvSpPr>
          <p:spPr>
            <a:xfrm>
              <a:off x="2847975" y="0"/>
              <a:ext cx="24288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2A9D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3000375" y="152400"/>
              <a:ext cx="304800" cy="304800"/>
            </a:xfrm>
            <a:prstGeom prst="roundRect">
              <a:avLst>
                <a:gd fmla="val 50000" name="adj"/>
              </a:avLst>
            </a:prstGeom>
            <a:solidFill>
              <a:srgbClr val="E6F4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6"/>
            <p:cNvSpPr txBox="1"/>
            <p:nvPr/>
          </p:nvSpPr>
          <p:spPr>
            <a:xfrm>
              <a:off x="3105150" y="20955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A9D8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2</a:t>
              </a:r>
              <a:endParaRPr b="1" sz="1200">
                <a:solidFill>
                  <a:srgbClr val="2A9D8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43" name="Google Shape;443;p26"/>
            <p:cNvSpPr txBox="1"/>
            <p:nvPr/>
          </p:nvSpPr>
          <p:spPr>
            <a:xfrm>
              <a:off x="3000375" y="533400"/>
              <a:ext cx="2124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Estima la incertidumbre:</a:t>
              </a:r>
              <a:r>
                <a:rPr b="0" lang="en-US" sz="10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bootstrapping, IC 95 %</a:t>
              </a:r>
              <a:endParaRPr b="0" sz="10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44" name="Google Shape;444;p26"/>
            <p:cNvSpPr/>
            <p:nvPr/>
          </p:nvSpPr>
          <p:spPr>
            <a:xfrm>
              <a:off x="6000750" y="5048250"/>
              <a:ext cx="1047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6"/>
            <p:cNvSpPr/>
            <p:nvPr/>
          </p:nvSpPr>
          <p:spPr>
            <a:xfrm>
              <a:off x="5695950" y="0"/>
              <a:ext cx="24288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2A9D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6"/>
            <p:cNvSpPr/>
            <p:nvPr/>
          </p:nvSpPr>
          <p:spPr>
            <a:xfrm>
              <a:off x="5848350" y="152400"/>
              <a:ext cx="304800" cy="304800"/>
            </a:xfrm>
            <a:prstGeom prst="roundRect">
              <a:avLst>
                <a:gd fmla="val 50000" name="adj"/>
              </a:avLst>
            </a:prstGeom>
            <a:solidFill>
              <a:srgbClr val="E6F4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6"/>
            <p:cNvSpPr txBox="1"/>
            <p:nvPr/>
          </p:nvSpPr>
          <p:spPr>
            <a:xfrm>
              <a:off x="5953125" y="20955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A9D8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3</a:t>
              </a:r>
              <a:endParaRPr b="1" sz="1200">
                <a:solidFill>
                  <a:srgbClr val="2A9D8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48" name="Google Shape;448;p26"/>
            <p:cNvSpPr txBox="1"/>
            <p:nvPr/>
          </p:nvSpPr>
          <p:spPr>
            <a:xfrm>
              <a:off x="5848350" y="533400"/>
              <a:ext cx="2124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Aplica</a:t>
              </a:r>
              <a:r>
                <a:rPr b="0" lang="en-US" sz="10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una paleta de colores</a:t>
              </a:r>
              <a:endParaRPr b="0" sz="10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8848725" y="5048250"/>
              <a:ext cx="1047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8543925" y="0"/>
              <a:ext cx="24288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2A9D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8696325" y="152400"/>
              <a:ext cx="304800" cy="304800"/>
            </a:xfrm>
            <a:prstGeom prst="roundRect">
              <a:avLst>
                <a:gd fmla="val 50000" name="adj"/>
              </a:avLst>
            </a:prstGeom>
            <a:solidFill>
              <a:srgbClr val="E6F4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6"/>
            <p:cNvSpPr txBox="1"/>
            <p:nvPr/>
          </p:nvSpPr>
          <p:spPr>
            <a:xfrm>
              <a:off x="8801100" y="20955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A9D8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4</a:t>
              </a:r>
              <a:endParaRPr b="1" sz="1200">
                <a:solidFill>
                  <a:srgbClr val="2A9D8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53" name="Google Shape;453;p26"/>
            <p:cNvSpPr txBox="1"/>
            <p:nvPr/>
          </p:nvSpPr>
          <p:spPr>
            <a:xfrm>
              <a:off x="8696325" y="533400"/>
              <a:ext cx="2124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Dibuja</a:t>
              </a:r>
              <a:r>
                <a:rPr b="0" lang="en-US" sz="10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con objetos de Matplotlib</a:t>
              </a:r>
              <a:endParaRPr b="0" sz="10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454" name="Google Shape;454;p26"/>
          <p:cNvSpPr/>
          <p:nvPr/>
        </p:nvSpPr>
        <p:spPr>
          <a:xfrm>
            <a:off x="609600" y="5924550"/>
            <a:ext cx="10972800" cy="476400"/>
          </a:xfrm>
          <a:prstGeom prst="roundRect">
            <a:avLst>
              <a:gd fmla="val 16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6"/>
          <p:cNvSpPr txBox="1"/>
          <p:nvPr/>
        </p:nvSpPr>
        <p:spPr>
          <a:xfrm>
            <a:off x="800100" y="6067425"/>
            <a:ext cx="1059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Resumen: </a:t>
            </a:r>
            <a:r>
              <a:rPr b="0" lang="en-US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Seaborn automatiza la agregación estadística y la estimación visualizando DataFrames de forma directa sobre Matplotlib.</a:t>
            </a:r>
            <a:endParaRPr b="1" sz="1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27"/>
          <p:cNvGrpSpPr/>
          <p:nvPr/>
        </p:nvGrpSpPr>
        <p:grpSpPr>
          <a:xfrm>
            <a:off x="609600" y="563750"/>
            <a:ext cx="5334000" cy="3557400"/>
            <a:chOff x="0" y="337575"/>
            <a:chExt cx="5334000" cy="3557400"/>
          </a:xfrm>
        </p:grpSpPr>
        <p:sp>
          <p:nvSpPr>
            <p:cNvPr id="463" name="Google Shape;463;p27"/>
            <p:cNvSpPr/>
            <p:nvPr/>
          </p:nvSpPr>
          <p:spPr>
            <a:xfrm>
              <a:off x="0" y="337575"/>
              <a:ext cx="5334000" cy="3557400"/>
            </a:xfrm>
            <a:prstGeom prst="roundRect">
              <a:avLst>
                <a:gd fmla="val 1509" name="adj"/>
              </a:avLst>
            </a:prstGeom>
            <a:solidFill>
              <a:srgbClr val="0F172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7"/>
            <p:cNvSpPr txBox="1"/>
            <p:nvPr/>
          </p:nvSpPr>
          <p:spPr>
            <a:xfrm>
              <a:off x="190500" y="528075"/>
              <a:ext cx="4953000" cy="33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promedio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tips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3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groupby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3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"day"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observed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True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)[</a:t>
              </a:r>
              <a:r>
                <a:rPr lang="en-US" sz="13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"tip"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].</a:t>
              </a:r>
              <a:r>
                <a:rPr lang="en-US" sz="13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mean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()</a:t>
              </a:r>
              <a:endParaRPr sz="13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fig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3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plt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3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subplots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()</a:t>
              </a:r>
              <a:endParaRPr sz="13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barras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3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bar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promedio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index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3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astype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3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str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), </a:t>
              </a: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promedio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values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width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0.6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3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3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bar_label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barras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fmt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</a:t>
              </a:r>
              <a:r>
                <a:rPr lang="en-US" sz="13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%.2f</a:t>
              </a:r>
              <a:r>
                <a:rPr lang="en-US" sz="13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padding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3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  </a:t>
              </a:r>
              <a:endParaRPr i="1" sz="1300">
                <a:solidFill>
                  <a:srgbClr val="4D526B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4D526B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3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set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title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"Propina promedio por día"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ylabel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"Propina promedio (USD)"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3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3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grid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axis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"x"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visible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False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3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plt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3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show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()</a:t>
              </a:r>
              <a:endParaRPr sz="13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solidFill>
                  <a:srgbClr val="F7768E"/>
                </a:solidFill>
                <a:highlight>
                  <a:srgbClr val="1A1B26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43F5E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65" name="Google Shape;465;p27"/>
          <p:cNvGrpSpPr/>
          <p:nvPr/>
        </p:nvGrpSpPr>
        <p:grpSpPr>
          <a:xfrm>
            <a:off x="6248400" y="563750"/>
            <a:ext cx="5334000" cy="3533375"/>
            <a:chOff x="0" y="0"/>
            <a:chExt cx="5334000" cy="5048400"/>
          </a:xfrm>
        </p:grpSpPr>
        <p:sp>
          <p:nvSpPr>
            <p:cNvPr id="466" name="Google Shape;466;p27"/>
            <p:cNvSpPr/>
            <p:nvPr/>
          </p:nvSpPr>
          <p:spPr>
            <a:xfrm>
              <a:off x="0" y="0"/>
              <a:ext cx="5334000" cy="5048400"/>
            </a:xfrm>
            <a:prstGeom prst="roundRect">
              <a:avLst>
                <a:gd fmla="val 1509" name="adj"/>
              </a:avLst>
            </a:prstGeom>
            <a:solidFill>
              <a:srgbClr val="0F172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7"/>
            <p:cNvSpPr txBox="1"/>
            <p:nvPr/>
          </p:nvSpPr>
          <p:spPr>
            <a:xfrm>
              <a:off x="190500" y="190500"/>
              <a:ext cx="4953000" cy="46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f</a:t>
              </a: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ig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3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plt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3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subplots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()</a:t>
              </a:r>
              <a:endParaRPr sz="13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sns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3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barplot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data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tips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x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"day"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y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"tip"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estimator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"mean"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errorbar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None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saturation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width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E08F68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0.6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3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ax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3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set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title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"Propina promedio por día"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i="1" lang="en-US" sz="1300">
                  <a:solidFill>
                    <a:srgbClr val="F7768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ylabel</a:t>
              </a:r>
              <a:r>
                <a:rPr lang="en-US" sz="1300">
                  <a:solidFill>
                    <a:srgbClr val="7DCFFF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=</a:t>
              </a:r>
              <a:r>
                <a:rPr lang="en-US" sz="1300">
                  <a:solidFill>
                    <a:srgbClr val="9ECE6A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"Propina promedio (USD)"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13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DEC76E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plt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1300">
                  <a:solidFill>
                    <a:srgbClr val="7AA2F7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show</a:t>
              </a:r>
              <a:r>
                <a:rPr lang="en-US" sz="1300">
                  <a:solidFill>
                    <a:srgbClr val="C0CAF5"/>
                  </a:solidFill>
                  <a:highlight>
                    <a:srgbClr val="1A1B26"/>
                  </a:highlight>
                  <a:latin typeface="Inter"/>
                  <a:ea typeface="Inter"/>
                  <a:cs typeface="Inter"/>
                  <a:sym typeface="Inter"/>
                </a:rPr>
                <a:t>()</a:t>
              </a:r>
              <a:endParaRPr sz="1300">
                <a:solidFill>
                  <a:srgbClr val="C0CAF5"/>
                </a:solidFill>
                <a:highlight>
                  <a:srgbClr val="1A1B2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solidFill>
                  <a:srgbClr val="F7768E"/>
                </a:solidFill>
                <a:highlight>
                  <a:srgbClr val="1A1B26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7768E"/>
                </a:solidFill>
                <a:highlight>
                  <a:srgbClr val="1A1B26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43F5E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468" name="Google Shape;468;p27"/>
          <p:cNvSpPr txBox="1"/>
          <p:nvPr/>
        </p:nvSpPr>
        <p:spPr>
          <a:xfrm>
            <a:off x="6248400" y="123450"/>
            <a:ext cx="694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Seaborn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7"/>
          <p:cNvSpPr txBox="1"/>
          <p:nvPr/>
        </p:nvSpPr>
        <p:spPr>
          <a:xfrm>
            <a:off x="609600" y="123450"/>
            <a:ext cx="694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Matplotlib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0" name="Google Shape;47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1447" y="3595297"/>
            <a:ext cx="3929123" cy="31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8"/>
          <p:cNvSpPr txBox="1"/>
          <p:nvPr/>
        </p:nvSpPr>
        <p:spPr>
          <a:xfrm>
            <a:off x="609600" y="304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36EFA"/>
                </a:solidFill>
                <a:latin typeface="Inter"/>
                <a:ea typeface="Inter"/>
                <a:cs typeface="Inter"/>
                <a:sym typeface="Inter"/>
              </a:rPr>
              <a:t>ARQUITECTURA CLIENTE-SERVIDOR</a:t>
            </a:r>
            <a:endParaRPr b="1" sz="1050">
              <a:solidFill>
                <a:srgbClr val="636E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Google Shape;477;p28"/>
          <p:cNvSpPr txBox="1"/>
          <p:nvPr/>
        </p:nvSpPr>
        <p:spPr>
          <a:xfrm>
            <a:off x="609600" y="533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Plotly: la figura es una especificación JSON</a:t>
            </a:r>
            <a:endParaRPr b="1" sz="26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478" name="Google Shape;478;p28"/>
          <p:cNvGrpSpPr/>
          <p:nvPr/>
        </p:nvGrpSpPr>
        <p:grpSpPr>
          <a:xfrm>
            <a:off x="609600" y="1143000"/>
            <a:ext cx="3448200" cy="3048000"/>
            <a:chOff x="0" y="0"/>
            <a:chExt cx="3448200" cy="3048000"/>
          </a:xfrm>
        </p:grpSpPr>
        <p:sp>
          <p:nvSpPr>
            <p:cNvPr id="479" name="Google Shape;479;p28"/>
            <p:cNvSpPr/>
            <p:nvPr/>
          </p:nvSpPr>
          <p:spPr>
            <a:xfrm>
              <a:off x="0" y="0"/>
              <a:ext cx="34482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8"/>
            <p:cNvSpPr txBox="1"/>
            <p:nvPr/>
          </p:nvSpPr>
          <p:spPr>
            <a:xfrm>
              <a:off x="228600" y="190500"/>
              <a:ext cx="299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plotly.express (alto nivel)</a:t>
              </a:r>
              <a:endParaRPr b="1" sz="1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81" name="Google Shape;481;p28"/>
            <p:cNvSpPr txBox="1"/>
            <p:nvPr/>
          </p:nvSpPr>
          <p:spPr>
            <a:xfrm>
              <a:off x="228600" y="514350"/>
              <a:ext cx="299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Una llamada crea un gráfico completo.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2" name="Google Shape;482;p28"/>
            <p:cNvSpPr/>
            <p:nvPr/>
          </p:nvSpPr>
          <p:spPr>
            <a:xfrm>
              <a:off x="228600" y="990600"/>
              <a:ext cx="2991000" cy="1828800"/>
            </a:xfrm>
            <a:prstGeom prst="roundRect">
              <a:avLst>
                <a:gd fmla="val 3125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8"/>
            <p:cNvSpPr txBox="1"/>
            <p:nvPr/>
          </p:nvSpPr>
          <p:spPr>
            <a:xfrm>
              <a:off x="381000" y="1143000"/>
              <a:ext cx="26862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36EFA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px.scatter</a:t>
              </a:r>
              <a:endParaRPr b="0" sz="1000">
                <a:solidFill>
                  <a:srgbClr val="636EFA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36EFA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px.line</a:t>
              </a:r>
              <a:endParaRPr b="0" sz="1000">
                <a:solidFill>
                  <a:srgbClr val="636EFA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36EFA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px.bar</a:t>
              </a:r>
              <a:endParaRPr b="0" sz="1000">
                <a:solidFill>
                  <a:srgbClr val="636EFA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36EFA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px.histogram</a:t>
              </a:r>
              <a:endParaRPr b="0" sz="1000">
                <a:solidFill>
                  <a:srgbClr val="636EFA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-US" sz="1000">
                  <a:solidFill>
                    <a:srgbClr val="636EFA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px.box</a:t>
              </a:r>
              <a:endParaRPr b="0" sz="1000">
                <a:solidFill>
                  <a:srgbClr val="636EFA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484" name="Google Shape;484;p28"/>
          <p:cNvGrpSpPr/>
          <p:nvPr/>
        </p:nvGrpSpPr>
        <p:grpSpPr>
          <a:xfrm>
            <a:off x="4371975" y="1143000"/>
            <a:ext cx="3448200" cy="3048000"/>
            <a:chOff x="0" y="0"/>
            <a:chExt cx="3448200" cy="3048000"/>
          </a:xfrm>
        </p:grpSpPr>
        <p:sp>
          <p:nvSpPr>
            <p:cNvPr id="485" name="Google Shape;485;p28"/>
            <p:cNvSpPr/>
            <p:nvPr/>
          </p:nvSpPr>
          <p:spPr>
            <a:xfrm>
              <a:off x="0" y="0"/>
              <a:ext cx="34482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8"/>
            <p:cNvSpPr txBox="1"/>
            <p:nvPr/>
          </p:nvSpPr>
          <p:spPr>
            <a:xfrm>
              <a:off x="228600" y="190500"/>
              <a:ext cx="299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plotly.graph_objects (bajo nivel)</a:t>
              </a:r>
              <a:endParaRPr b="1" sz="1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87" name="Google Shape;487;p28"/>
            <p:cNvSpPr txBox="1"/>
            <p:nvPr/>
          </p:nvSpPr>
          <p:spPr>
            <a:xfrm>
              <a:off x="228600" y="514350"/>
              <a:ext cx="299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 construye trazo por trazo, con control total.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8" name="Google Shape;488;p28"/>
            <p:cNvSpPr/>
            <p:nvPr/>
          </p:nvSpPr>
          <p:spPr>
            <a:xfrm>
              <a:off x="228600" y="990600"/>
              <a:ext cx="2991000" cy="1828800"/>
            </a:xfrm>
            <a:prstGeom prst="roundRect">
              <a:avLst>
                <a:gd fmla="val 3125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8"/>
            <p:cNvSpPr txBox="1"/>
            <p:nvPr/>
          </p:nvSpPr>
          <p:spPr>
            <a:xfrm>
              <a:off x="381000" y="1143000"/>
              <a:ext cx="26862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36EFA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go.Figure</a:t>
              </a:r>
              <a:endParaRPr b="0" sz="1000">
                <a:solidFill>
                  <a:srgbClr val="636EFA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-US" sz="1000">
                  <a:solidFill>
                    <a:srgbClr val="636EFA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go.Scatter</a:t>
              </a:r>
              <a:endParaRPr b="0" sz="1000">
                <a:solidFill>
                  <a:srgbClr val="636EFA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490" name="Google Shape;490;p28"/>
          <p:cNvGrpSpPr/>
          <p:nvPr/>
        </p:nvGrpSpPr>
        <p:grpSpPr>
          <a:xfrm>
            <a:off x="8134350" y="1143000"/>
            <a:ext cx="3448200" cy="3048000"/>
            <a:chOff x="0" y="0"/>
            <a:chExt cx="3448200" cy="3048000"/>
          </a:xfrm>
        </p:grpSpPr>
        <p:sp>
          <p:nvSpPr>
            <p:cNvPr id="491" name="Google Shape;491;p28"/>
            <p:cNvSpPr/>
            <p:nvPr/>
          </p:nvSpPr>
          <p:spPr>
            <a:xfrm>
              <a:off x="0" y="0"/>
              <a:ext cx="3448200" cy="3048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8"/>
            <p:cNvSpPr txBox="1"/>
            <p:nvPr/>
          </p:nvSpPr>
          <p:spPr>
            <a:xfrm>
              <a:off x="228600" y="190500"/>
              <a:ext cx="299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La Figure</a:t>
              </a:r>
              <a:endParaRPr b="1" sz="1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93" name="Google Shape;493;p28"/>
            <p:cNvSpPr txBox="1"/>
            <p:nvPr/>
          </p:nvSpPr>
          <p:spPr>
            <a:xfrm>
              <a:off x="228600" y="514350"/>
              <a:ext cx="299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Es un diccionario con dos claves: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228600" y="990600"/>
              <a:ext cx="2991000" cy="1828800"/>
            </a:xfrm>
            <a:prstGeom prst="roundRect">
              <a:avLst>
                <a:gd fmla="val 3125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8"/>
            <p:cNvSpPr txBox="1"/>
            <p:nvPr/>
          </p:nvSpPr>
          <p:spPr>
            <a:xfrm>
              <a:off x="381000" y="1143000"/>
              <a:ext cx="26862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36EFA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data = </a:t>
              </a: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lista de trazas</a:t>
              </a:r>
              <a:endParaRPr b="0" sz="1000">
                <a:solidFill>
                  <a:srgbClr val="636EFA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lang="en-US" sz="1000">
                  <a:solidFill>
                    <a:srgbClr val="636EFA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layout = </a:t>
              </a: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títulos, ejes, márgenes</a:t>
              </a:r>
              <a:endParaRPr b="0" sz="1000">
                <a:solidFill>
                  <a:srgbClr val="636EFA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496" name="Google Shape;496;p28"/>
          <p:cNvGrpSpPr/>
          <p:nvPr/>
        </p:nvGrpSpPr>
        <p:grpSpPr>
          <a:xfrm>
            <a:off x="609600" y="4429125"/>
            <a:ext cx="10972393" cy="857400"/>
            <a:chOff x="0" y="0"/>
            <a:chExt cx="10020450" cy="857400"/>
          </a:xfrm>
        </p:grpSpPr>
        <p:sp>
          <p:nvSpPr>
            <p:cNvPr id="497" name="Google Shape;497;p28"/>
            <p:cNvSpPr/>
            <p:nvPr/>
          </p:nvSpPr>
          <p:spPr>
            <a:xfrm>
              <a:off x="0" y="0"/>
              <a:ext cx="2952900" cy="8574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636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8"/>
            <p:cNvSpPr txBox="1"/>
            <p:nvPr/>
          </p:nvSpPr>
          <p:spPr>
            <a:xfrm>
              <a:off x="142875" y="314325"/>
              <a:ext cx="266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Python (Figure)</a:t>
              </a:r>
              <a:endParaRPr b="1" sz="12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99" name="Google Shape;499;p28"/>
            <p:cNvSpPr/>
            <p:nvPr/>
          </p:nvSpPr>
          <p:spPr>
            <a:xfrm>
              <a:off x="3105150" y="371475"/>
              <a:ext cx="285900" cy="114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12000" y="60000"/>
                  </a:lnTo>
                  <a:moveTo>
                    <a:pt x="88000" y="0"/>
                  </a:moveTo>
                  <a:lnTo>
                    <a:pt x="120000" y="60000"/>
                  </a:lnTo>
                  <a:lnTo>
                    <a:pt x="88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8"/>
            <p:cNvSpPr/>
            <p:nvPr/>
          </p:nvSpPr>
          <p:spPr>
            <a:xfrm>
              <a:off x="3533775" y="0"/>
              <a:ext cx="2952900" cy="857400"/>
            </a:xfrm>
            <a:prstGeom prst="roundRect">
              <a:avLst>
                <a:gd fmla="val 8888" name="adj"/>
              </a:avLst>
            </a:prstGeom>
            <a:solidFill>
              <a:srgbClr val="636E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8"/>
            <p:cNvSpPr txBox="1"/>
            <p:nvPr/>
          </p:nvSpPr>
          <p:spPr>
            <a:xfrm>
              <a:off x="3676650" y="314325"/>
              <a:ext cx="266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JSON</a:t>
              </a:r>
              <a:endParaRPr b="1" sz="1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02" name="Google Shape;502;p28"/>
            <p:cNvSpPr/>
            <p:nvPr/>
          </p:nvSpPr>
          <p:spPr>
            <a:xfrm>
              <a:off x="6638925" y="371475"/>
              <a:ext cx="285900" cy="114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12000" y="60000"/>
                  </a:lnTo>
                  <a:moveTo>
                    <a:pt x="88000" y="0"/>
                  </a:moveTo>
                  <a:lnTo>
                    <a:pt x="120000" y="60000"/>
                  </a:lnTo>
                  <a:lnTo>
                    <a:pt x="88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8"/>
            <p:cNvSpPr/>
            <p:nvPr/>
          </p:nvSpPr>
          <p:spPr>
            <a:xfrm>
              <a:off x="7067550" y="0"/>
              <a:ext cx="2952900" cy="8574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636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8"/>
            <p:cNvSpPr txBox="1"/>
            <p:nvPr/>
          </p:nvSpPr>
          <p:spPr>
            <a:xfrm>
              <a:off x="7162800" y="209550"/>
              <a:ext cx="2762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Navegador o Jupyter (Plotly.js)</a:t>
              </a:r>
              <a:endParaRPr b="1" sz="12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05" name="Google Shape;505;p28"/>
            <p:cNvSpPr txBox="1"/>
            <p:nvPr/>
          </p:nvSpPr>
          <p:spPr>
            <a:xfrm>
              <a:off x="7162800" y="457200"/>
              <a:ext cx="2762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Renderiza en SVG; usa WebGL con muchos puntos.</a:t>
              </a:r>
              <a:endParaRPr b="0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06" name="Google Shape;506;p28"/>
          <p:cNvSpPr/>
          <p:nvPr/>
        </p:nvSpPr>
        <p:spPr>
          <a:xfrm>
            <a:off x="609600" y="5714182"/>
            <a:ext cx="10972800" cy="476400"/>
          </a:xfrm>
          <a:prstGeom prst="roundRect">
            <a:avLst>
              <a:gd fmla="val 160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8"/>
          <p:cNvSpPr txBox="1"/>
          <p:nvPr/>
        </p:nvSpPr>
        <p:spPr>
          <a:xfrm>
            <a:off x="800100" y="5857057"/>
            <a:ext cx="1059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Zoom, tooltips y filtro por leyenda los procesa el navegador, no el kernel de Python.</a:t>
            </a:r>
            <a:endParaRPr b="0" sz="11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9"/>
          <p:cNvSpPr txBox="1"/>
          <p:nvPr/>
        </p:nvSpPr>
        <p:spPr>
          <a:xfrm>
            <a:off x="609600" y="304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36EFA"/>
                </a:solidFill>
                <a:latin typeface="Inter"/>
                <a:ea typeface="Inter"/>
                <a:cs typeface="Inter"/>
                <a:sym typeface="Inter"/>
              </a:rPr>
              <a:t>ARQUITECTURA CLIENTE-SERVIDOR</a:t>
            </a:r>
            <a:endParaRPr b="1" sz="1050">
              <a:solidFill>
                <a:srgbClr val="636E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3" name="Google Shape;513;p29"/>
          <p:cNvSpPr txBox="1"/>
          <p:nvPr/>
        </p:nvSpPr>
        <p:spPr>
          <a:xfrm>
            <a:off x="609600" y="533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Plotly: un gráfico interactivo en una llamada</a:t>
            </a:r>
            <a:endParaRPr b="1" sz="26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14" name="Google Shape;514;p29"/>
          <p:cNvGrpSpPr/>
          <p:nvPr/>
        </p:nvGrpSpPr>
        <p:grpSpPr>
          <a:xfrm>
            <a:off x="609600" y="1143000"/>
            <a:ext cx="5334000" cy="5048400"/>
            <a:chOff x="0" y="0"/>
            <a:chExt cx="5334000" cy="5048400"/>
          </a:xfrm>
        </p:grpSpPr>
        <p:sp>
          <p:nvSpPr>
            <p:cNvPr id="515" name="Google Shape;515;p29"/>
            <p:cNvSpPr/>
            <p:nvPr/>
          </p:nvSpPr>
          <p:spPr>
            <a:xfrm>
              <a:off x="0" y="0"/>
              <a:ext cx="5334000" cy="5048400"/>
            </a:xfrm>
            <a:prstGeom prst="roundRect">
              <a:avLst>
                <a:gd fmla="val 1509" name="adj"/>
              </a:avLst>
            </a:prstGeom>
            <a:solidFill>
              <a:srgbClr val="0F172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9"/>
            <p:cNvSpPr txBox="1"/>
            <p:nvPr/>
          </p:nvSpPr>
          <p:spPr>
            <a:xfrm>
              <a:off x="228600" y="228600"/>
              <a:ext cx="4876800" cy="45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43F5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r>
                <a:rPr lang="en-US" sz="1500">
                  <a:solidFill>
                    <a:srgbClr val="F43F5E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mport</a:t>
              </a:r>
              <a:r>
                <a:rPr lang="en-US" sz="1500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plotly.express </a:t>
              </a:r>
              <a:r>
                <a:rPr lang="en-US" sz="1500">
                  <a:solidFill>
                    <a:srgbClr val="F43F5E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as</a:t>
              </a:r>
              <a:r>
                <a:rPr lang="en-US" sz="1500">
                  <a:solidFill>
                    <a:srgbClr val="38BDF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px</a:t>
              </a:r>
              <a:endParaRPr sz="1500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fig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1500">
                  <a:solidFill>
                    <a:srgbClr val="7DCFFF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=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1500">
                  <a:solidFill>
                    <a:srgbClr val="DEC76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px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  <a:r>
                <a:rPr lang="en-US" sz="1500">
                  <a:solidFill>
                    <a:srgbClr val="7AA2F7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bar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(</a:t>
              </a:r>
              <a:r>
                <a:rPr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promedio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  <a:r>
                <a:rPr lang="en-US" sz="1500">
                  <a:solidFill>
                    <a:srgbClr val="7AA2F7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reset_index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(), </a:t>
              </a:r>
              <a:r>
                <a:rPr i="1"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x</a:t>
              </a:r>
              <a:r>
                <a:rPr lang="en-US" sz="1500">
                  <a:solidFill>
                    <a:srgbClr val="7DCFFF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=</a:t>
              </a:r>
              <a:r>
                <a:rPr lang="en-US" sz="1500">
                  <a:solidFill>
                    <a:srgbClr val="9ECE6A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"day"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i="1"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y</a:t>
              </a:r>
              <a:r>
                <a:rPr lang="en-US" sz="1500">
                  <a:solidFill>
                    <a:srgbClr val="7DCFFF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=</a:t>
              </a:r>
              <a:r>
                <a:rPr lang="en-US" sz="1500">
                  <a:solidFill>
                    <a:srgbClr val="9ECE6A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"tip"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i="1"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text_auto</a:t>
              </a:r>
              <a:r>
                <a:rPr lang="en-US" sz="1500">
                  <a:solidFill>
                    <a:srgbClr val="7DCFFF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=</a:t>
              </a:r>
              <a:r>
                <a:rPr lang="en-US" sz="1500">
                  <a:solidFill>
                    <a:srgbClr val="9ECE6A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".2f"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,</a:t>
              </a:r>
              <a:endParaRPr sz="1500">
                <a:solidFill>
                  <a:srgbClr val="C0CAF5"/>
                </a:solidFill>
                <a:highlight>
                  <a:srgbClr val="1A1B26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            </a:t>
              </a:r>
              <a:r>
                <a:rPr i="1"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category_orders</a:t>
              </a:r>
              <a:r>
                <a:rPr lang="en-US" sz="1500">
                  <a:solidFill>
                    <a:srgbClr val="7DCFFF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=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{</a:t>
              </a:r>
              <a:r>
                <a:rPr lang="en-US" sz="1500">
                  <a:solidFill>
                    <a:srgbClr val="9ECE6A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"day"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: </a:t>
              </a:r>
              <a:r>
                <a:rPr lang="en-US" sz="1500">
                  <a:solidFill>
                    <a:srgbClr val="DEC76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ORDEN_DIAS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}, </a:t>
              </a:r>
              <a:r>
                <a:rPr i="1"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color_discrete_sequence</a:t>
              </a:r>
              <a:r>
                <a:rPr lang="en-US" sz="1500">
                  <a:solidFill>
                    <a:srgbClr val="7DCFFF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=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[</a:t>
              </a:r>
              <a:r>
                <a:rPr lang="en-US" sz="1500">
                  <a:solidFill>
                    <a:srgbClr val="DEC76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AZUL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],</a:t>
              </a:r>
              <a:endParaRPr sz="1500">
                <a:solidFill>
                  <a:srgbClr val="C0CAF5"/>
                </a:solidFill>
                <a:highlight>
                  <a:srgbClr val="1A1B26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            </a:t>
              </a:r>
              <a:r>
                <a:rPr i="1"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labels</a:t>
              </a:r>
              <a:r>
                <a:rPr lang="en-US" sz="1500">
                  <a:solidFill>
                    <a:srgbClr val="7DCFFF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=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{</a:t>
              </a:r>
              <a:r>
                <a:rPr lang="en-US" sz="1500">
                  <a:solidFill>
                    <a:srgbClr val="7DCFFF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**</a:t>
              </a:r>
              <a:r>
                <a:rPr lang="en-US" sz="1500">
                  <a:solidFill>
                    <a:srgbClr val="DEC76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ETIQUETAS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lang="en-US" sz="1500">
                  <a:solidFill>
                    <a:srgbClr val="9ECE6A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"tip"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: </a:t>
              </a:r>
              <a:r>
                <a:rPr lang="en-US" sz="1500">
                  <a:solidFill>
                    <a:srgbClr val="9ECE6A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"Propina promedio (USD)"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},</a:t>
              </a:r>
              <a:endParaRPr sz="1500">
                <a:solidFill>
                  <a:srgbClr val="C0CAF5"/>
                </a:solidFill>
                <a:highlight>
                  <a:srgbClr val="1A1B26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            </a:t>
              </a:r>
              <a:r>
                <a:rPr i="1"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title</a:t>
              </a:r>
              <a:r>
                <a:rPr lang="en-US" sz="1500">
                  <a:solidFill>
                    <a:srgbClr val="7DCFFF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=</a:t>
              </a:r>
              <a:r>
                <a:rPr lang="en-US" sz="1500">
                  <a:solidFill>
                    <a:srgbClr val="9ECE6A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"Propina promedio por día"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i="1"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template</a:t>
              </a:r>
              <a:r>
                <a:rPr lang="en-US" sz="1500">
                  <a:solidFill>
                    <a:srgbClr val="7DCFFF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=</a:t>
              </a:r>
              <a:r>
                <a:rPr lang="en-US" sz="1500">
                  <a:solidFill>
                    <a:srgbClr val="9ECE6A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"simple_white"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i="1"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width</a:t>
              </a:r>
              <a:r>
                <a:rPr lang="en-US" sz="1500">
                  <a:solidFill>
                    <a:srgbClr val="7DCFFF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=</a:t>
              </a:r>
              <a:r>
                <a:rPr lang="en-US" sz="1500">
                  <a:solidFill>
                    <a:srgbClr val="E08F68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700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i="1"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height</a:t>
              </a:r>
              <a:r>
                <a:rPr lang="en-US" sz="1500">
                  <a:solidFill>
                    <a:srgbClr val="7DCFFF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=</a:t>
              </a:r>
              <a:r>
                <a:rPr lang="en-US" sz="1500">
                  <a:solidFill>
                    <a:srgbClr val="E08F68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450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)</a:t>
              </a:r>
              <a:endParaRPr sz="1500">
                <a:solidFill>
                  <a:srgbClr val="C0CAF5"/>
                </a:solidFill>
                <a:highlight>
                  <a:srgbClr val="1A1B26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500">
                <a:solidFill>
                  <a:srgbClr val="C0CAF5"/>
                </a:solidFill>
                <a:highlight>
                  <a:srgbClr val="1A1B26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fig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  <a:r>
                <a:rPr lang="en-US" sz="1500">
                  <a:solidFill>
                    <a:srgbClr val="7AA2F7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update_traces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(</a:t>
              </a:r>
              <a:r>
                <a:rPr i="1"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width</a:t>
              </a:r>
              <a:r>
                <a:rPr lang="en-US" sz="1500">
                  <a:solidFill>
                    <a:srgbClr val="7DCFFF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=</a:t>
              </a:r>
              <a:r>
                <a:rPr lang="en-US" sz="1500">
                  <a:solidFill>
                    <a:srgbClr val="E08F68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0.6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i="1"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textposition</a:t>
              </a:r>
              <a:r>
                <a:rPr lang="en-US" sz="1500">
                  <a:solidFill>
                    <a:srgbClr val="7DCFFF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=</a:t>
              </a:r>
              <a:r>
                <a:rPr lang="en-US" sz="1500">
                  <a:solidFill>
                    <a:srgbClr val="9ECE6A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"outside"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)</a:t>
              </a:r>
              <a:endParaRPr sz="1500">
                <a:solidFill>
                  <a:srgbClr val="C0CAF5"/>
                </a:solidFill>
                <a:highlight>
                  <a:srgbClr val="1A1B26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lnSpc>
                  <a:spcPct val="137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>
                  <a:solidFill>
                    <a:srgbClr val="F7768E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fig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  <a:r>
                <a:rPr lang="en-US" sz="1500">
                  <a:solidFill>
                    <a:srgbClr val="7AA2F7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show</a:t>
              </a:r>
              <a:r>
                <a:rPr lang="en-US" sz="1500">
                  <a:solidFill>
                    <a:srgbClr val="C0CAF5"/>
                  </a:solidFill>
                  <a:highlight>
                    <a:srgbClr val="1A1B26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()</a:t>
              </a:r>
              <a:endParaRPr sz="1500">
                <a:solidFill>
                  <a:srgbClr val="C0CAF5"/>
                </a:solidFill>
                <a:highlight>
                  <a:srgbClr val="1A1B26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38BDF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517" name="Google Shape;517;p29" title="Videocaptura de pantalla_20261008_204231.webm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6000" y="1171049"/>
            <a:ext cx="5943600" cy="498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0"/>
          <p:cNvSpPr txBox="1"/>
          <p:nvPr/>
        </p:nvSpPr>
        <p:spPr>
          <a:xfrm>
            <a:off x="609600" y="304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36EFA"/>
                </a:solidFill>
                <a:latin typeface="Inter"/>
                <a:ea typeface="Inter"/>
                <a:cs typeface="Inter"/>
                <a:sym typeface="Inter"/>
              </a:rPr>
              <a:t>ARQUITECTURA CLIENTE-SERVIDOR</a:t>
            </a:r>
            <a:endParaRPr b="1" sz="1050">
              <a:solidFill>
                <a:srgbClr val="636E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4" name="Google Shape;524;p30"/>
          <p:cNvSpPr txBox="1"/>
          <p:nvPr/>
        </p:nvSpPr>
        <p:spPr>
          <a:xfrm>
            <a:off x="609600" y="533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Principios de diseño y accesibilidad</a:t>
            </a:r>
            <a:endParaRPr b="1" sz="26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25" name="Google Shape;525;p30"/>
          <p:cNvGrpSpPr/>
          <p:nvPr/>
        </p:nvGrpSpPr>
        <p:grpSpPr>
          <a:xfrm>
            <a:off x="604838" y="1290638"/>
            <a:ext cx="5343600" cy="2200200"/>
            <a:chOff x="-4762" y="-4762"/>
            <a:chExt cx="5343600" cy="2200200"/>
          </a:xfrm>
        </p:grpSpPr>
        <p:pic>
          <p:nvPicPr>
            <p:cNvPr id="526" name="Google Shape;526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62" y="-4762"/>
              <a:ext cx="5343600" cy="22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7" name="Google Shape;527;p30"/>
            <p:cNvSpPr txBox="1"/>
            <p:nvPr/>
          </p:nvSpPr>
          <p:spPr>
            <a:xfrm>
              <a:off x="228600" y="190500"/>
              <a:ext cx="4876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3B6EA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1</a:t>
              </a:r>
              <a:endParaRPr b="1" sz="2380">
                <a:solidFill>
                  <a:srgbClr val="3B6EA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28" name="Google Shape;528;p30"/>
            <p:cNvSpPr txBox="1"/>
            <p:nvPr/>
          </p:nvSpPr>
          <p:spPr>
            <a:xfrm>
              <a:off x="228600" y="647700"/>
              <a:ext cx="4876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Maximizar el data-ink ratio (Tufte)</a:t>
              </a:r>
              <a:endParaRPr b="1" sz="15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29" name="Google Shape;529;p30"/>
            <p:cNvSpPr txBox="1"/>
            <p:nvPr/>
          </p:nvSpPr>
          <p:spPr>
            <a:xfrm>
              <a:off x="228600" y="1028700"/>
              <a:ext cx="4876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La mayor parte de la tinta debe representar datos: fuera bordes pesados, fondos oscuros y grillas recargadas.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0" name="Google Shape;530;p30"/>
          <p:cNvGrpSpPr/>
          <p:nvPr/>
        </p:nvGrpSpPr>
        <p:grpSpPr>
          <a:xfrm>
            <a:off x="6243638" y="1290638"/>
            <a:ext cx="5343600" cy="2200200"/>
            <a:chOff x="-4762" y="-4762"/>
            <a:chExt cx="5343600" cy="2200200"/>
          </a:xfrm>
        </p:grpSpPr>
        <p:pic>
          <p:nvPicPr>
            <p:cNvPr id="531" name="Google Shape;53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62" y="-4762"/>
              <a:ext cx="5343600" cy="22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2" name="Google Shape;532;p30"/>
            <p:cNvSpPr txBox="1"/>
            <p:nvPr/>
          </p:nvSpPr>
          <p:spPr>
            <a:xfrm>
              <a:off x="228600" y="190500"/>
              <a:ext cx="4876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3B6EA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2</a:t>
              </a:r>
              <a:endParaRPr b="1" sz="2380">
                <a:solidFill>
                  <a:srgbClr val="3B6EA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33" name="Google Shape;533;p30"/>
            <p:cNvSpPr txBox="1"/>
            <p:nvPr/>
          </p:nvSpPr>
          <p:spPr>
            <a:xfrm>
              <a:off x="228600" y="647700"/>
              <a:ext cx="4876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Evitar el chartjunk</a:t>
              </a:r>
              <a:endParaRPr b="1" sz="15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34" name="Google Shape;534;p30"/>
            <p:cNvSpPr txBox="1"/>
            <p:nvPr/>
          </p:nvSpPr>
          <p:spPr>
            <a:xfrm>
              <a:off x="228600" y="1028700"/>
              <a:ext cx="4876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 desaconsejan los gráficos 3D de torta o de barras: la perspectiva distorsiona la percepción del área.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5" name="Google Shape;535;p30"/>
          <p:cNvGrpSpPr/>
          <p:nvPr/>
        </p:nvGrpSpPr>
        <p:grpSpPr>
          <a:xfrm>
            <a:off x="604838" y="3767138"/>
            <a:ext cx="5343600" cy="2200200"/>
            <a:chOff x="-4762" y="-4762"/>
            <a:chExt cx="5343600" cy="2200200"/>
          </a:xfrm>
        </p:grpSpPr>
        <p:pic>
          <p:nvPicPr>
            <p:cNvPr id="536" name="Google Shape;536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62" y="-4762"/>
              <a:ext cx="5343600" cy="22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0"/>
            <p:cNvSpPr txBox="1"/>
            <p:nvPr/>
          </p:nvSpPr>
          <p:spPr>
            <a:xfrm>
              <a:off x="228600" y="190500"/>
              <a:ext cx="4876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3B6EA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3</a:t>
              </a:r>
              <a:endParaRPr b="1" sz="2380">
                <a:solidFill>
                  <a:srgbClr val="3B6EA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38" name="Google Shape;538;p30"/>
            <p:cNvSpPr txBox="1"/>
            <p:nvPr/>
          </p:nvSpPr>
          <p:spPr>
            <a:xfrm>
              <a:off x="228600" y="647700"/>
              <a:ext cx="4876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Color con intención</a:t>
              </a:r>
              <a:endParaRPr b="1" sz="15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39" name="Google Shape;539;p30"/>
            <p:cNvSpPr txBox="1"/>
            <p:nvPr/>
          </p:nvSpPr>
          <p:spPr>
            <a:xfrm>
              <a:off x="228600" y="1028700"/>
              <a:ext cx="4876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El color codifica datos: paletas categóricas para variables cualitativas; secuenciales o divergentes para cuantitativas.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0" name="Google Shape;540;p30"/>
          <p:cNvGrpSpPr/>
          <p:nvPr/>
        </p:nvGrpSpPr>
        <p:grpSpPr>
          <a:xfrm>
            <a:off x="6243638" y="3767138"/>
            <a:ext cx="5343600" cy="2200200"/>
            <a:chOff x="-4762" y="-4762"/>
            <a:chExt cx="5343600" cy="2200200"/>
          </a:xfrm>
        </p:grpSpPr>
        <p:pic>
          <p:nvPicPr>
            <p:cNvPr id="541" name="Google Shape;54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62" y="-4762"/>
              <a:ext cx="5343600" cy="22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2" name="Google Shape;542;p30"/>
            <p:cNvSpPr txBox="1"/>
            <p:nvPr/>
          </p:nvSpPr>
          <p:spPr>
            <a:xfrm>
              <a:off x="228600" y="190500"/>
              <a:ext cx="4876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3B6EA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4</a:t>
              </a:r>
              <a:endParaRPr b="1" sz="2380">
                <a:solidFill>
                  <a:srgbClr val="3B6EA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43" name="Google Shape;543;p30"/>
            <p:cNvSpPr txBox="1"/>
            <p:nvPr/>
          </p:nvSpPr>
          <p:spPr>
            <a:xfrm>
              <a:off x="228600" y="647700"/>
              <a:ext cx="4876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Accesibilidad</a:t>
              </a:r>
              <a:endParaRPr b="1" sz="15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44" name="Google Shape;544;p30"/>
            <p:cNvSpPr txBox="1"/>
            <p:nvPr/>
          </p:nvSpPr>
          <p:spPr>
            <a:xfrm>
              <a:off x="228600" y="1028700"/>
              <a:ext cx="4876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Contraste adecuado (criterios WCAG) y paletas perceptualmente uniformes como Viridis o Cividis, legibles con daltonismo.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1"/>
          <p:cNvSpPr txBox="1"/>
          <p:nvPr/>
        </p:nvSpPr>
        <p:spPr>
          <a:xfrm>
            <a:off x="609600" y="2667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36EFA"/>
                </a:solidFill>
                <a:latin typeface="Inter"/>
                <a:ea typeface="Inter"/>
                <a:cs typeface="Inter"/>
                <a:sym typeface="Inter"/>
              </a:rPr>
              <a:t>INGENIERÍA ESTADÍSTICA</a:t>
            </a:r>
            <a:endParaRPr b="1" sz="1050">
              <a:solidFill>
                <a:srgbClr val="636E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1" name="Google Shape;551;p31"/>
          <p:cNvSpPr txBox="1"/>
          <p:nvPr/>
        </p:nvSpPr>
        <p:spPr>
          <a:xfrm>
            <a:off x="609600" y="47625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Comparativa: ventajas, desventajas y cuándo usar cada una</a:t>
            </a:r>
            <a:endParaRPr b="1" sz="24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52" name="Google Shape;552;p31"/>
          <p:cNvGrpSpPr/>
          <p:nvPr/>
        </p:nvGrpSpPr>
        <p:grpSpPr>
          <a:xfrm>
            <a:off x="609600" y="1047750"/>
            <a:ext cx="10972800" cy="381000"/>
            <a:chOff x="0" y="0"/>
            <a:chExt cx="10972800" cy="381000"/>
          </a:xfrm>
        </p:grpSpPr>
        <p:sp>
          <p:nvSpPr>
            <p:cNvPr id="553" name="Google Shape;553;p31"/>
            <p:cNvSpPr/>
            <p:nvPr/>
          </p:nvSpPr>
          <p:spPr>
            <a:xfrm>
              <a:off x="0" y="0"/>
              <a:ext cx="1524000" cy="381000"/>
            </a:xfrm>
            <a:prstGeom prst="roundRect">
              <a:avLst>
                <a:gd fmla="val 15000" name="adj"/>
              </a:avLst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1600200" y="0"/>
              <a:ext cx="2952900" cy="381000"/>
            </a:xfrm>
            <a:prstGeom prst="roundRect">
              <a:avLst>
                <a:gd fmla="val 15000" name="adj"/>
              </a:avLst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4629150" y="0"/>
              <a:ext cx="2952900" cy="381000"/>
            </a:xfrm>
            <a:prstGeom prst="roundRect">
              <a:avLst>
                <a:gd fmla="val 15000" name="adj"/>
              </a:avLst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7658100" y="0"/>
              <a:ext cx="3314700" cy="381000"/>
            </a:xfrm>
            <a:prstGeom prst="roundRect">
              <a:avLst>
                <a:gd fmla="val 15000" name="adj"/>
              </a:avLst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1"/>
            <p:cNvSpPr txBox="1"/>
            <p:nvPr/>
          </p:nvSpPr>
          <p:spPr>
            <a:xfrm>
              <a:off x="152400" y="0"/>
              <a:ext cx="1219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Herramienta</a:t>
              </a:r>
              <a:endParaRPr b="1" sz="1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58" name="Google Shape;558;p31"/>
            <p:cNvSpPr txBox="1"/>
            <p:nvPr/>
          </p:nvSpPr>
          <p:spPr>
            <a:xfrm>
              <a:off x="1752600" y="0"/>
              <a:ext cx="2648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Ventajas</a:t>
              </a:r>
              <a:endParaRPr b="1" sz="1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59" name="Google Shape;559;p31"/>
            <p:cNvSpPr txBox="1"/>
            <p:nvPr/>
          </p:nvSpPr>
          <p:spPr>
            <a:xfrm>
              <a:off x="4781550" y="0"/>
              <a:ext cx="2648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Desventajas</a:t>
              </a:r>
              <a:endParaRPr b="1" sz="1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60" name="Google Shape;560;p31"/>
            <p:cNvSpPr txBox="1"/>
            <p:nvPr/>
          </p:nvSpPr>
          <p:spPr>
            <a:xfrm>
              <a:off x="7810500" y="0"/>
              <a:ext cx="3009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Cuándo usarla</a:t>
              </a:r>
              <a:endParaRPr b="1" sz="1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561" name="Google Shape;561;p31"/>
          <p:cNvGrpSpPr/>
          <p:nvPr/>
        </p:nvGrpSpPr>
        <p:grpSpPr>
          <a:xfrm>
            <a:off x="609600" y="1504950"/>
            <a:ext cx="10972800" cy="1000200"/>
            <a:chOff x="0" y="0"/>
            <a:chExt cx="10972800" cy="1000200"/>
          </a:xfrm>
        </p:grpSpPr>
        <p:sp>
          <p:nvSpPr>
            <p:cNvPr id="562" name="Google Shape;562;p31"/>
            <p:cNvSpPr/>
            <p:nvPr/>
          </p:nvSpPr>
          <p:spPr>
            <a:xfrm>
              <a:off x="0" y="0"/>
              <a:ext cx="1524000" cy="1000200"/>
            </a:xfrm>
            <a:prstGeom prst="roundRect">
              <a:avLst>
                <a:gd fmla="val 5714" name="adj"/>
              </a:avLst>
            </a:prstGeom>
            <a:solidFill>
              <a:srgbClr val="F585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1600200" y="0"/>
              <a:ext cx="2952900" cy="10002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1"/>
            <p:cNvSpPr/>
            <p:nvPr/>
          </p:nvSpPr>
          <p:spPr>
            <a:xfrm>
              <a:off x="4629150" y="0"/>
              <a:ext cx="2952900" cy="10002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1"/>
            <p:cNvSpPr/>
            <p:nvPr/>
          </p:nvSpPr>
          <p:spPr>
            <a:xfrm>
              <a:off x="7658100" y="0"/>
              <a:ext cx="3314700" cy="10002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1"/>
            <p:cNvSpPr txBox="1"/>
            <p:nvPr/>
          </p:nvSpPr>
          <p:spPr>
            <a:xfrm>
              <a:off x="152400" y="0"/>
              <a:ext cx="12192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Matplotlib</a:t>
              </a:r>
              <a:endParaRPr b="1" sz="14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67" name="Google Shape;567;p31"/>
            <p:cNvSpPr txBox="1"/>
            <p:nvPr/>
          </p:nvSpPr>
          <p:spPr>
            <a:xfrm>
              <a:off x="1752600" y="0"/>
              <a:ext cx="2648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Control total; salida vectorial (PDF/SVG); base del ecosistema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8" name="Google Shape;568;p31"/>
            <p:cNvSpPr txBox="1"/>
            <p:nvPr/>
          </p:nvSpPr>
          <p:spPr>
            <a:xfrm>
              <a:off x="4781550" y="0"/>
              <a:ext cx="2648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Verboso; curva de aprendizaje alta; estética por defecto básica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9" name="Google Shape;569;p31"/>
            <p:cNvSpPr txBox="1"/>
            <p:nvPr/>
          </p:nvSpPr>
          <p:spPr>
            <a:xfrm>
              <a:off x="7810500" y="0"/>
              <a:ext cx="30099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Publicaciones y reportes estáticos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0" name="Google Shape;570;p31"/>
          <p:cNvGrpSpPr/>
          <p:nvPr/>
        </p:nvGrpSpPr>
        <p:grpSpPr>
          <a:xfrm>
            <a:off x="609600" y="2581275"/>
            <a:ext cx="10972800" cy="1000200"/>
            <a:chOff x="0" y="0"/>
            <a:chExt cx="10972800" cy="1000200"/>
          </a:xfrm>
        </p:grpSpPr>
        <p:sp>
          <p:nvSpPr>
            <p:cNvPr id="571" name="Google Shape;571;p31"/>
            <p:cNvSpPr/>
            <p:nvPr/>
          </p:nvSpPr>
          <p:spPr>
            <a:xfrm>
              <a:off x="0" y="0"/>
              <a:ext cx="1524000" cy="1000200"/>
            </a:xfrm>
            <a:prstGeom prst="roundRect">
              <a:avLst>
                <a:gd fmla="val 5714" name="adj"/>
              </a:avLst>
            </a:prstGeom>
            <a:solidFill>
              <a:srgbClr val="2A9D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1"/>
            <p:cNvSpPr/>
            <p:nvPr/>
          </p:nvSpPr>
          <p:spPr>
            <a:xfrm>
              <a:off x="1600200" y="0"/>
              <a:ext cx="2952900" cy="10002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1"/>
            <p:cNvSpPr/>
            <p:nvPr/>
          </p:nvSpPr>
          <p:spPr>
            <a:xfrm>
              <a:off x="4629150" y="0"/>
              <a:ext cx="2952900" cy="10002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1"/>
            <p:cNvSpPr/>
            <p:nvPr/>
          </p:nvSpPr>
          <p:spPr>
            <a:xfrm>
              <a:off x="7658100" y="0"/>
              <a:ext cx="3314700" cy="10002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1"/>
            <p:cNvSpPr txBox="1"/>
            <p:nvPr/>
          </p:nvSpPr>
          <p:spPr>
            <a:xfrm>
              <a:off x="152400" y="0"/>
              <a:ext cx="12192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Seaborn</a:t>
              </a:r>
              <a:endParaRPr b="1" sz="14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76" name="Google Shape;576;p31"/>
            <p:cNvSpPr txBox="1"/>
            <p:nvPr/>
          </p:nvSpPr>
          <p:spPr>
            <a:xfrm>
              <a:off x="1752600" y="0"/>
              <a:ext cx="2648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Rápido; estadística integrada; buena estética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7" name="Google Shape;577;p31"/>
            <p:cNvSpPr txBox="1"/>
            <p:nvPr/>
          </p:nvSpPr>
          <p:spPr>
            <a:xfrm>
              <a:off x="4781550" y="0"/>
              <a:ext cx="2648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Menos control fino; depende de Matplotlib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8" name="Google Shape;578;p31"/>
            <p:cNvSpPr txBox="1"/>
            <p:nvPr/>
          </p:nvSpPr>
          <p:spPr>
            <a:xfrm>
              <a:off x="7810500" y="0"/>
              <a:ext cx="30099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EDA (exploración inicial)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9" name="Google Shape;579;p31"/>
          <p:cNvGrpSpPr/>
          <p:nvPr/>
        </p:nvGrpSpPr>
        <p:grpSpPr>
          <a:xfrm>
            <a:off x="609600" y="3657600"/>
            <a:ext cx="10972800" cy="1000200"/>
            <a:chOff x="0" y="0"/>
            <a:chExt cx="10972800" cy="1000200"/>
          </a:xfrm>
        </p:grpSpPr>
        <p:sp>
          <p:nvSpPr>
            <p:cNvPr id="580" name="Google Shape;580;p31"/>
            <p:cNvSpPr/>
            <p:nvPr/>
          </p:nvSpPr>
          <p:spPr>
            <a:xfrm>
              <a:off x="0" y="0"/>
              <a:ext cx="1524000" cy="1000200"/>
            </a:xfrm>
            <a:prstGeom prst="roundRect">
              <a:avLst>
                <a:gd fmla="val 5714" name="adj"/>
              </a:avLst>
            </a:prstGeom>
            <a:solidFill>
              <a:srgbClr val="636E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1"/>
            <p:cNvSpPr/>
            <p:nvPr/>
          </p:nvSpPr>
          <p:spPr>
            <a:xfrm>
              <a:off x="1600200" y="0"/>
              <a:ext cx="2952900" cy="10002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1"/>
            <p:cNvSpPr/>
            <p:nvPr/>
          </p:nvSpPr>
          <p:spPr>
            <a:xfrm>
              <a:off x="4629150" y="0"/>
              <a:ext cx="2952900" cy="10002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1"/>
            <p:cNvSpPr/>
            <p:nvPr/>
          </p:nvSpPr>
          <p:spPr>
            <a:xfrm>
              <a:off x="7658100" y="0"/>
              <a:ext cx="3314700" cy="10002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1"/>
            <p:cNvSpPr txBox="1"/>
            <p:nvPr/>
          </p:nvSpPr>
          <p:spPr>
            <a:xfrm>
              <a:off x="152400" y="0"/>
              <a:ext cx="12192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Plotly</a:t>
              </a:r>
              <a:endParaRPr b="1" sz="14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85" name="Google Shape;585;p31"/>
            <p:cNvSpPr txBox="1"/>
            <p:nvPr/>
          </p:nvSpPr>
          <p:spPr>
            <a:xfrm>
              <a:off x="1752600" y="0"/>
              <a:ext cx="2648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Interactivo; despliegue web; integra con Dash y Streamlit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6" name="Google Shape;586;p31"/>
            <p:cNvSpPr txBox="1"/>
            <p:nvPr/>
          </p:nvSpPr>
          <p:spPr>
            <a:xfrm>
              <a:off x="4781550" y="0"/>
              <a:ext cx="2648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HTML pesado con muchos datos; menos control para impresión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7" name="Google Shape;587;p31"/>
            <p:cNvSpPr txBox="1"/>
            <p:nvPr/>
          </p:nvSpPr>
          <p:spPr>
            <a:xfrm>
              <a:off x="7810500" y="0"/>
              <a:ext cx="30099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Dashboards y apps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88" name="Google Shape;588;p31"/>
          <p:cNvGrpSpPr/>
          <p:nvPr/>
        </p:nvGrpSpPr>
        <p:grpSpPr>
          <a:xfrm>
            <a:off x="609600" y="4733925"/>
            <a:ext cx="10972800" cy="1000200"/>
            <a:chOff x="0" y="0"/>
            <a:chExt cx="10972800" cy="1000200"/>
          </a:xfrm>
        </p:grpSpPr>
        <p:sp>
          <p:nvSpPr>
            <p:cNvPr id="589" name="Google Shape;589;p31"/>
            <p:cNvSpPr/>
            <p:nvPr/>
          </p:nvSpPr>
          <p:spPr>
            <a:xfrm>
              <a:off x="0" y="0"/>
              <a:ext cx="1524000" cy="1000200"/>
            </a:xfrm>
            <a:prstGeom prst="roundRect">
              <a:avLst>
                <a:gd fmla="val 5714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1"/>
            <p:cNvSpPr/>
            <p:nvPr/>
          </p:nvSpPr>
          <p:spPr>
            <a:xfrm>
              <a:off x="1600200" y="0"/>
              <a:ext cx="2952900" cy="10002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1"/>
            <p:cNvSpPr/>
            <p:nvPr/>
          </p:nvSpPr>
          <p:spPr>
            <a:xfrm>
              <a:off x="4629150" y="0"/>
              <a:ext cx="2952900" cy="10002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1"/>
            <p:cNvSpPr/>
            <p:nvPr/>
          </p:nvSpPr>
          <p:spPr>
            <a:xfrm>
              <a:off x="7658100" y="0"/>
              <a:ext cx="3314700" cy="10002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1"/>
            <p:cNvSpPr txBox="1"/>
            <p:nvPr/>
          </p:nvSpPr>
          <p:spPr>
            <a:xfrm>
              <a:off x="152400" y="0"/>
              <a:ext cx="12192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Otras</a:t>
              </a:r>
              <a:endParaRPr b="1" sz="14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94" name="Google Shape;594;p31"/>
            <p:cNvSpPr txBox="1"/>
            <p:nvPr/>
          </p:nvSpPr>
          <p:spPr>
            <a:xfrm>
              <a:off x="1752600" y="0"/>
              <a:ext cx="2648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Altair y Bokeh (declarativo / interactivo), ggplot2 (R), Power BI y Tableau (BI sin código)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5" name="Google Shape;595;p31"/>
            <p:cNvSpPr txBox="1"/>
            <p:nvPr/>
          </p:nvSpPr>
          <p:spPr>
            <a:xfrm>
              <a:off x="4781550" y="0"/>
              <a:ext cx="2648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Menos flexibles, otro ecosistema o licencias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6" name="Google Shape;596;p31"/>
            <p:cNvSpPr txBox="1"/>
            <p:nvPr/>
          </p:nvSpPr>
          <p:spPr>
            <a:xfrm>
              <a:off x="7810500" y="0"/>
              <a:ext cx="30099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Según equipo y contexto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7" name="Google Shape;597;p31"/>
          <p:cNvGrpSpPr/>
          <p:nvPr/>
        </p:nvGrpSpPr>
        <p:grpSpPr>
          <a:xfrm>
            <a:off x="609600" y="5924550"/>
            <a:ext cx="10972800" cy="476400"/>
            <a:chOff x="0" y="0"/>
            <a:chExt cx="10972800" cy="476400"/>
          </a:xfrm>
        </p:grpSpPr>
        <p:sp>
          <p:nvSpPr>
            <p:cNvPr id="598" name="Google Shape;598;p31"/>
            <p:cNvSpPr/>
            <p:nvPr/>
          </p:nvSpPr>
          <p:spPr>
            <a:xfrm>
              <a:off x="0" y="0"/>
              <a:ext cx="10972800" cy="476400"/>
            </a:xfrm>
            <a:prstGeom prst="roundRect">
              <a:avLst>
                <a:gd fmla="val 16000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1"/>
            <p:cNvSpPr txBox="1"/>
            <p:nvPr/>
          </p:nvSpPr>
          <p:spPr>
            <a:xfrm>
              <a:off x="190500" y="0"/>
              <a:ext cx="10591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No hay una mejor herramienta: hay una mejor herramienta para cada restricción.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5" name="Google Shape;605;p32"/>
          <p:cNvGrpSpPr/>
          <p:nvPr/>
        </p:nvGrpSpPr>
        <p:grpSpPr>
          <a:xfrm>
            <a:off x="609600" y="400050"/>
            <a:ext cx="10972800" cy="666900"/>
            <a:chOff x="0" y="0"/>
            <a:chExt cx="10972800" cy="666900"/>
          </a:xfrm>
        </p:grpSpPr>
        <p:sp>
          <p:nvSpPr>
            <p:cNvPr id="606" name="Google Shape;606;p32"/>
            <p:cNvSpPr txBox="1"/>
            <p:nvPr/>
          </p:nvSpPr>
          <p:spPr>
            <a:xfrm>
              <a:off x="0" y="0"/>
              <a:ext cx="10972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RESUMEN Y RECOMENDACIONES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7" name="Google Shape;607;p32"/>
            <p:cNvSpPr txBox="1"/>
            <p:nvPr/>
          </p:nvSpPr>
          <p:spPr>
            <a:xfrm>
              <a:off x="0" y="190500"/>
              <a:ext cx="10972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6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Conclusión: qué usar y para qué</a:t>
              </a:r>
              <a:endParaRPr b="1" sz="296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08" name="Google Shape;608;p32"/>
          <p:cNvGrpSpPr/>
          <p:nvPr/>
        </p:nvGrpSpPr>
        <p:grpSpPr>
          <a:xfrm>
            <a:off x="609600" y="1190625"/>
            <a:ext cx="10972800" cy="2476500"/>
            <a:chOff x="0" y="0"/>
            <a:chExt cx="10972800" cy="2476500"/>
          </a:xfrm>
        </p:grpSpPr>
        <p:sp>
          <p:nvSpPr>
            <p:cNvPr id="609" name="Google Shape;609;p32"/>
            <p:cNvSpPr/>
            <p:nvPr/>
          </p:nvSpPr>
          <p:spPr>
            <a:xfrm>
              <a:off x="0" y="0"/>
              <a:ext cx="10972800" cy="342900"/>
            </a:xfrm>
            <a:prstGeom prst="roundRect">
              <a:avLst>
                <a:gd fmla="val 16666" name="adj"/>
              </a:avLst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2"/>
            <p:cNvSpPr txBox="1"/>
            <p:nvPr/>
          </p:nvSpPr>
          <p:spPr>
            <a:xfrm>
              <a:off x="190500" y="76200"/>
              <a:ext cx="4953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Situación</a:t>
              </a:r>
              <a:endPara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1" name="Google Shape;611;p32"/>
            <p:cNvSpPr txBox="1"/>
            <p:nvPr/>
          </p:nvSpPr>
          <p:spPr>
            <a:xfrm>
              <a:off x="5334000" y="76200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Herramienta</a:t>
              </a:r>
              <a:endPara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2" name="Google Shape;612;p32"/>
            <p:cNvSpPr txBox="1"/>
            <p:nvPr/>
          </p:nvSpPr>
          <p:spPr>
            <a:xfrm>
              <a:off x="7239000" y="76200"/>
              <a:ext cx="352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Por qué</a:t>
              </a:r>
              <a:endPara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13" name="Google Shape;613;p32"/>
            <p:cNvGrpSpPr/>
            <p:nvPr/>
          </p:nvGrpSpPr>
          <p:grpSpPr>
            <a:xfrm>
              <a:off x="0" y="400050"/>
              <a:ext cx="10972800" cy="457200"/>
              <a:chOff x="0" y="0"/>
              <a:chExt cx="10972800" cy="457200"/>
            </a:xfrm>
          </p:grpSpPr>
          <p:sp>
            <p:nvSpPr>
              <p:cNvPr id="614" name="Google Shape;614;p32"/>
              <p:cNvSpPr/>
              <p:nvPr/>
            </p:nvSpPr>
            <p:spPr>
              <a:xfrm>
                <a:off x="0" y="0"/>
                <a:ext cx="109728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32"/>
              <p:cNvSpPr/>
              <p:nvPr/>
            </p:nvSpPr>
            <p:spPr>
              <a:xfrm>
                <a:off x="5238750" y="57150"/>
                <a:ext cx="18096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2A9D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32"/>
              <p:cNvSpPr txBox="1"/>
              <p:nvPr/>
            </p:nvSpPr>
            <p:spPr>
              <a:xfrm>
                <a:off x="190500" y="76200"/>
                <a:ext cx="48579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Explorar un dataset nuevo: correlaciones, outliers, distribuciones</a:t>
                </a:r>
                <a:endParaRPr b="0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7" name="Google Shape;617;p32"/>
              <p:cNvSpPr txBox="1"/>
              <p:nvPr/>
            </p:nvSpPr>
            <p:spPr>
              <a:xfrm>
                <a:off x="5334000" y="133350"/>
                <a:ext cx="16191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Seaborn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8" name="Google Shape;618;p32"/>
              <p:cNvSpPr txBox="1"/>
              <p:nvPr/>
            </p:nvSpPr>
            <p:spPr>
              <a:xfrm>
                <a:off x="7239000" y="76200"/>
                <a:ext cx="3524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Estadística integrada, una línea por gráfico</a:t>
                </a:r>
                <a:endParaRPr b="0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19" name="Google Shape;619;p32"/>
            <p:cNvGrpSpPr/>
            <p:nvPr/>
          </p:nvGrpSpPr>
          <p:grpSpPr>
            <a:xfrm>
              <a:off x="0" y="914400"/>
              <a:ext cx="10972800" cy="533400"/>
              <a:chOff x="0" y="0"/>
              <a:chExt cx="10972800" cy="533400"/>
            </a:xfrm>
          </p:grpSpPr>
          <p:sp>
            <p:nvSpPr>
              <p:cNvPr id="620" name="Google Shape;620;p32"/>
              <p:cNvSpPr/>
              <p:nvPr/>
            </p:nvSpPr>
            <p:spPr>
              <a:xfrm>
                <a:off x="0" y="0"/>
                <a:ext cx="10972800" cy="533400"/>
              </a:xfrm>
              <a:prstGeom prst="roundRect">
                <a:avLst>
                  <a:gd fmla="val 1071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32"/>
              <p:cNvSpPr/>
              <p:nvPr/>
            </p:nvSpPr>
            <p:spPr>
              <a:xfrm>
                <a:off x="5238750" y="95250"/>
                <a:ext cx="18096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F5851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32"/>
              <p:cNvSpPr txBox="1"/>
              <p:nvPr/>
            </p:nvSpPr>
            <p:spPr>
              <a:xfrm>
                <a:off x="190500" y="57150"/>
                <a:ext cx="48579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Figura para un paper, una tesis o un informe en PDF; curva de entrenamiento de un modelo</a:t>
                </a:r>
                <a:endParaRPr b="0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3" name="Google Shape;623;p32"/>
              <p:cNvSpPr txBox="1"/>
              <p:nvPr/>
            </p:nvSpPr>
            <p:spPr>
              <a:xfrm>
                <a:off x="5334000" y="171450"/>
                <a:ext cx="16191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Matplotlib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4" name="Google Shape;624;p32"/>
              <p:cNvSpPr txBox="1"/>
              <p:nvPr/>
            </p:nvSpPr>
            <p:spPr>
              <a:xfrm>
                <a:off x="7239000" y="171450"/>
                <a:ext cx="3524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Control total y salida vectorial</a:t>
                </a:r>
                <a:endParaRPr b="0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25" name="Google Shape;625;p32"/>
            <p:cNvGrpSpPr/>
            <p:nvPr/>
          </p:nvGrpSpPr>
          <p:grpSpPr>
            <a:xfrm>
              <a:off x="0" y="1504950"/>
              <a:ext cx="10972800" cy="457200"/>
              <a:chOff x="0" y="0"/>
              <a:chExt cx="10972800" cy="457200"/>
            </a:xfrm>
          </p:grpSpPr>
          <p:sp>
            <p:nvSpPr>
              <p:cNvPr id="626" name="Google Shape;626;p32"/>
              <p:cNvSpPr/>
              <p:nvPr/>
            </p:nvSpPr>
            <p:spPr>
              <a:xfrm>
                <a:off x="0" y="0"/>
                <a:ext cx="109728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32"/>
              <p:cNvSpPr/>
              <p:nvPr/>
            </p:nvSpPr>
            <p:spPr>
              <a:xfrm>
                <a:off x="5238750" y="57150"/>
                <a:ext cx="18096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636E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32"/>
              <p:cNvSpPr txBox="1"/>
              <p:nvPr/>
            </p:nvSpPr>
            <p:spPr>
              <a:xfrm>
                <a:off x="190500" y="76200"/>
                <a:ext cx="48579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Tablero interactivo para gerencia o publicado en la web</a:t>
                </a:r>
                <a:endParaRPr b="0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9" name="Google Shape;629;p32"/>
              <p:cNvSpPr txBox="1"/>
              <p:nvPr/>
            </p:nvSpPr>
            <p:spPr>
              <a:xfrm>
                <a:off x="5238750" y="133350"/>
                <a:ext cx="1809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Plotly (Dash / Streamlit)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0" name="Google Shape;630;p32"/>
              <p:cNvSpPr txBox="1"/>
              <p:nvPr/>
            </p:nvSpPr>
            <p:spPr>
              <a:xfrm>
                <a:off x="7239000" y="133350"/>
                <a:ext cx="3524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Interactividad en el navegador</a:t>
                </a:r>
                <a:endParaRPr b="0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31" name="Google Shape;631;p32"/>
            <p:cNvGrpSpPr/>
            <p:nvPr/>
          </p:nvGrpSpPr>
          <p:grpSpPr>
            <a:xfrm>
              <a:off x="0" y="2019300"/>
              <a:ext cx="10972800" cy="457200"/>
              <a:chOff x="0" y="0"/>
              <a:chExt cx="10972800" cy="457200"/>
            </a:xfrm>
          </p:grpSpPr>
          <p:sp>
            <p:nvSpPr>
              <p:cNvPr id="632" name="Google Shape;632;p32"/>
              <p:cNvSpPr/>
              <p:nvPr/>
            </p:nvSpPr>
            <p:spPr>
              <a:xfrm>
                <a:off x="0" y="0"/>
                <a:ext cx="10972800" cy="457200"/>
              </a:xfrm>
              <a:prstGeom prst="roundRect">
                <a:avLst>
                  <a:gd fmla="val 125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32"/>
              <p:cNvSpPr/>
              <p:nvPr/>
            </p:nvSpPr>
            <p:spPr>
              <a:xfrm>
                <a:off x="5238750" y="57150"/>
                <a:ext cx="1809600" cy="342900"/>
              </a:xfrm>
              <a:prstGeom prst="roundRect">
                <a:avLst>
                  <a:gd fmla="val 11111" name="adj"/>
                </a:avLst>
              </a:pr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32"/>
              <p:cNvSpPr txBox="1"/>
              <p:nvPr/>
            </p:nvSpPr>
            <p:spPr>
              <a:xfrm>
                <a:off x="190500" y="76200"/>
                <a:ext cx="48579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Auditar datos faltantes o mapear datos geográficos</a:t>
                </a:r>
                <a:endParaRPr b="0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5" name="Google Shape;635;p32"/>
              <p:cNvSpPr txBox="1"/>
              <p:nvPr/>
            </p:nvSpPr>
            <p:spPr>
              <a:xfrm>
                <a:off x="5238750" y="133350"/>
                <a:ext cx="1809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Missingno / Folium ...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6" name="Google Shape;636;p32"/>
              <p:cNvSpPr txBox="1"/>
              <p:nvPr/>
            </p:nvSpPr>
            <p:spPr>
              <a:xfrm>
                <a:off x="7239000" y="133350"/>
                <a:ext cx="3524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Herramientas de nicho</a:t>
                </a:r>
                <a:endParaRPr b="0" sz="11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37" name="Google Shape;637;p32"/>
          <p:cNvGrpSpPr/>
          <p:nvPr/>
        </p:nvGrpSpPr>
        <p:grpSpPr>
          <a:xfrm>
            <a:off x="609600" y="3857625"/>
            <a:ext cx="3505200" cy="2143200"/>
            <a:chOff x="0" y="0"/>
            <a:chExt cx="3505200" cy="2143200"/>
          </a:xfrm>
        </p:grpSpPr>
        <p:sp>
          <p:nvSpPr>
            <p:cNvPr id="638" name="Google Shape;638;p32"/>
            <p:cNvSpPr/>
            <p:nvPr/>
          </p:nvSpPr>
          <p:spPr>
            <a:xfrm>
              <a:off x="0" y="0"/>
              <a:ext cx="3505200" cy="21432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0" y="0"/>
              <a:ext cx="3505200" cy="57300"/>
            </a:xfrm>
            <a:prstGeom prst="roundRect">
              <a:avLst>
                <a:gd fmla="val 50000" name="adj"/>
              </a:avLst>
            </a:prstGeom>
            <a:solidFill>
              <a:srgbClr val="3B6E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2"/>
            <p:cNvSpPr txBox="1"/>
            <p:nvPr/>
          </p:nvSpPr>
          <p:spPr>
            <a:xfrm>
              <a:off x="228600" y="190500"/>
              <a:ext cx="3048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3B6EA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01</a:t>
              </a:r>
              <a:endParaRPr b="1" sz="2800">
                <a:solidFill>
                  <a:srgbClr val="3B6EA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1" name="Google Shape;641;p32"/>
            <p:cNvSpPr txBox="1"/>
            <p:nvPr/>
          </p:nvSpPr>
          <p:spPr>
            <a:xfrm>
              <a:off x="228600" y="714375"/>
              <a:ext cx="3048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No hay una mejor librería: hay una mejor para cada restricción.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42" name="Google Shape;642;p32"/>
          <p:cNvGrpSpPr/>
          <p:nvPr/>
        </p:nvGrpSpPr>
        <p:grpSpPr>
          <a:xfrm>
            <a:off x="4343400" y="3857625"/>
            <a:ext cx="3505200" cy="2143200"/>
            <a:chOff x="0" y="0"/>
            <a:chExt cx="3505200" cy="2143200"/>
          </a:xfrm>
        </p:grpSpPr>
        <p:sp>
          <p:nvSpPr>
            <p:cNvPr id="643" name="Google Shape;643;p32"/>
            <p:cNvSpPr/>
            <p:nvPr/>
          </p:nvSpPr>
          <p:spPr>
            <a:xfrm>
              <a:off x="0" y="0"/>
              <a:ext cx="3505200" cy="21432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2"/>
            <p:cNvSpPr/>
            <p:nvPr/>
          </p:nvSpPr>
          <p:spPr>
            <a:xfrm>
              <a:off x="0" y="0"/>
              <a:ext cx="3505200" cy="57300"/>
            </a:xfrm>
            <a:prstGeom prst="roundRect">
              <a:avLst>
                <a:gd fmla="val 50000" name="adj"/>
              </a:avLst>
            </a:prstGeom>
            <a:solidFill>
              <a:srgbClr val="3B6E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2"/>
            <p:cNvSpPr txBox="1"/>
            <p:nvPr/>
          </p:nvSpPr>
          <p:spPr>
            <a:xfrm>
              <a:off x="228600" y="190500"/>
              <a:ext cx="3048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3B6EA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02</a:t>
              </a:r>
              <a:endParaRPr b="1" sz="2800">
                <a:solidFill>
                  <a:srgbClr val="3B6EA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6" name="Google Shape;646;p32"/>
            <p:cNvSpPr txBox="1"/>
            <p:nvPr/>
          </p:nvSpPr>
          <p:spPr>
            <a:xfrm>
              <a:off x="228600" y="714375"/>
              <a:ext cx="3048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Flujo híbrido: explorar con Seaborn, refinar con Matplotlib, publicar con Plotly.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47" name="Google Shape;647;p32"/>
          <p:cNvGrpSpPr/>
          <p:nvPr/>
        </p:nvGrpSpPr>
        <p:grpSpPr>
          <a:xfrm>
            <a:off x="8077200" y="3857625"/>
            <a:ext cx="3505200" cy="2143200"/>
            <a:chOff x="0" y="0"/>
            <a:chExt cx="3505200" cy="2143200"/>
          </a:xfrm>
        </p:grpSpPr>
        <p:sp>
          <p:nvSpPr>
            <p:cNvPr id="648" name="Google Shape;648;p32"/>
            <p:cNvSpPr/>
            <p:nvPr/>
          </p:nvSpPr>
          <p:spPr>
            <a:xfrm>
              <a:off x="0" y="0"/>
              <a:ext cx="3505200" cy="21432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2"/>
            <p:cNvSpPr/>
            <p:nvPr/>
          </p:nvSpPr>
          <p:spPr>
            <a:xfrm>
              <a:off x="0" y="0"/>
              <a:ext cx="3505200" cy="57300"/>
            </a:xfrm>
            <a:prstGeom prst="roundRect">
              <a:avLst>
                <a:gd fmla="val 50000" name="adj"/>
              </a:avLst>
            </a:prstGeom>
            <a:solidFill>
              <a:srgbClr val="3B6EA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2"/>
            <p:cNvSpPr txBox="1"/>
            <p:nvPr/>
          </p:nvSpPr>
          <p:spPr>
            <a:xfrm>
              <a:off x="228600" y="190500"/>
              <a:ext cx="3048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3B6EA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03</a:t>
              </a:r>
              <a:endParaRPr b="1" sz="2800">
                <a:solidFill>
                  <a:srgbClr val="3B6EA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1" name="Google Shape;651;p32"/>
            <p:cNvSpPr txBox="1"/>
            <p:nvPr/>
          </p:nvSpPr>
          <p:spPr>
            <a:xfrm>
              <a:off x="228600" y="714375"/>
              <a:ext cx="3048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Grafiquen siempre los datos antes de concluir (Anscombe, Datasaurus).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652" name="Google Shape;652;p32"/>
          <p:cNvSpPr txBox="1"/>
          <p:nvPr/>
        </p:nvSpPr>
        <p:spPr>
          <a:xfrm>
            <a:off x="609600" y="6286500"/>
            <a:ext cx="10972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Muchas gracias · ¿Preguntas?</a:t>
            </a:r>
            <a:endParaRPr b="0"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3"/>
          <p:cNvSpPr txBox="1"/>
          <p:nvPr/>
        </p:nvSpPr>
        <p:spPr>
          <a:xfrm>
            <a:off x="609600" y="428625"/>
            <a:ext cx="10972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HERRAMIENTAS DE VISUALIZACIÓN</a:t>
            </a:r>
            <a:endParaRPr b="1" sz="105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8" name="Google Shape;658;p33"/>
          <p:cNvSpPr txBox="1"/>
          <p:nvPr/>
        </p:nvSpPr>
        <p:spPr>
          <a:xfrm>
            <a:off x="609600" y="714375"/>
            <a:ext cx="10972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 tríada de visualización en Python</a:t>
            </a:r>
            <a:endParaRPr b="1" sz="32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59" name="Google Shape;65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1619250"/>
            <a:ext cx="34290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33"/>
          <p:cNvSpPr/>
          <p:nvPr/>
        </p:nvSpPr>
        <p:spPr>
          <a:xfrm>
            <a:off x="609600" y="1619250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F5851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3"/>
          <p:cNvSpPr txBox="1"/>
          <p:nvPr/>
        </p:nvSpPr>
        <p:spPr>
          <a:xfrm>
            <a:off x="914400" y="2000250"/>
            <a:ext cx="28194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Matplotlib</a:t>
            </a:r>
            <a:endParaRPr b="1" sz="24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La librería madre</a:t>
            </a:r>
            <a:endParaRPr b="1" sz="1300">
              <a:solidFill>
                <a:srgbClr val="D9770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Motor de bajo nivel. Control total sobre cada elemento, a cambio de más código.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62" name="Google Shape;66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619250"/>
            <a:ext cx="34290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33"/>
          <p:cNvSpPr/>
          <p:nvPr/>
        </p:nvSpPr>
        <p:spPr>
          <a:xfrm>
            <a:off x="4381500" y="1619250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3"/>
          <p:cNvSpPr txBox="1"/>
          <p:nvPr/>
        </p:nvSpPr>
        <p:spPr>
          <a:xfrm>
            <a:off x="4686300" y="2000250"/>
            <a:ext cx="28194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Seaborn</a:t>
            </a:r>
            <a:endParaRPr b="1" sz="24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A9D8F"/>
                </a:solidFill>
                <a:latin typeface="Inter"/>
                <a:ea typeface="Inter"/>
                <a:cs typeface="Inter"/>
                <a:sym typeface="Inter"/>
              </a:rPr>
              <a:t>Estadística de alto nivel</a:t>
            </a:r>
            <a:endParaRPr b="1" sz="1300">
              <a:solidFill>
                <a:srgbClr val="2A9D8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Construida sobre Matplotlib. Exploración rápida con DataFrames de Pandas.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65" name="Google Shape;66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3400" y="1619250"/>
            <a:ext cx="34290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33"/>
          <p:cNvSpPr/>
          <p:nvPr/>
        </p:nvSpPr>
        <p:spPr>
          <a:xfrm>
            <a:off x="8153400" y="1619250"/>
            <a:ext cx="3429000" cy="57300"/>
          </a:xfrm>
          <a:prstGeom prst="roundRect">
            <a:avLst>
              <a:gd fmla="val 50000" name="adj"/>
            </a:avLst>
          </a:prstGeom>
          <a:solidFill>
            <a:srgbClr val="636E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3"/>
          <p:cNvSpPr txBox="1"/>
          <p:nvPr/>
        </p:nvSpPr>
        <p:spPr>
          <a:xfrm>
            <a:off x="8458200" y="2000250"/>
            <a:ext cx="28194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Plotly</a:t>
            </a:r>
            <a:endParaRPr b="1" sz="24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36EFA"/>
                </a:solidFill>
                <a:latin typeface="Inter"/>
                <a:ea typeface="Inter"/>
                <a:cs typeface="Inter"/>
                <a:sym typeface="Inter"/>
              </a:rPr>
              <a:t>Interactivo y web</a:t>
            </a:r>
            <a:endParaRPr b="1" sz="1300">
              <a:solidFill>
                <a:srgbClr val="636E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Estándar para gráficos interactivos y dashboards en el navegador.</a:t>
            </a:r>
            <a:endParaRPr b="0"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68" name="Google Shape;668;p33"/>
          <p:cNvGrpSpPr/>
          <p:nvPr/>
        </p:nvGrpSpPr>
        <p:grpSpPr>
          <a:xfrm>
            <a:off x="3943350" y="3000375"/>
            <a:ext cx="533400" cy="266850"/>
            <a:chOff x="-95250" y="-47625"/>
            <a:chExt cx="533400" cy="266850"/>
          </a:xfrm>
        </p:grpSpPr>
        <p:pic>
          <p:nvPicPr>
            <p:cNvPr id="669" name="Google Shape;669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100" y="180975"/>
              <a:ext cx="2001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33"/>
            <p:cNvSpPr/>
            <p:nvPr/>
          </p:nvSpPr>
          <p:spPr>
            <a:xfrm>
              <a:off x="266700" y="161925"/>
              <a:ext cx="573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3"/>
            <p:cNvSpPr txBox="1"/>
            <p:nvPr/>
          </p:nvSpPr>
          <p:spPr>
            <a:xfrm>
              <a:off x="-95250" y="-47625"/>
              <a:ext cx="533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6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se apoya en</a:t>
              </a:r>
              <a:endParaRPr b="1" sz="66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72" name="Google Shape;672;p33"/>
          <p:cNvSpPr/>
          <p:nvPr/>
        </p:nvSpPr>
        <p:spPr>
          <a:xfrm>
            <a:off x="0" y="5334000"/>
            <a:ext cx="12192000" cy="666900"/>
          </a:xfrm>
          <a:prstGeom prst="rect">
            <a:avLst/>
          </a:prstGeom>
          <a:solidFill>
            <a:srgbClr val="3B6EA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3"/>
          <p:cNvSpPr txBox="1"/>
          <p:nvPr/>
        </p:nvSpPr>
        <p:spPr>
          <a:xfrm>
            <a:off x="609600" y="5334000"/>
            <a:ext cx="10972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Para elegir entre ellas, hay que entender qué pasa por dentro de cada una.</a:t>
            </a:r>
            <a:endParaRPr b="1" sz="15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descr="A subtle, modern, high-tech background featuring glowing abstract data visualization charts, line graphs, scatter plots, and network connections in dark blue and soft teal tones, clean minimal presentation backdrop style, non-distracting." id="674" name="Google Shape;674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33"/>
          <p:cNvSpPr txBox="1"/>
          <p:nvPr/>
        </p:nvSpPr>
        <p:spPr>
          <a:xfrm>
            <a:off x="0" y="2827015"/>
            <a:ext cx="12192000" cy="104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¡Muchas gracias!</a:t>
            </a:r>
            <a:endParaRPr b="1" sz="56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