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Fira Code SemiBold" panose="020B0604020202020204" charset="0"/>
      <p:regular r:id="rId16"/>
      <p:bold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ExtraBold" panose="020B0604020202020204" charset="0"/>
      <p:bold r:id="rId22"/>
      <p:boldItalic r:id="rId23"/>
    </p:embeddedFont>
    <p:embeddedFont>
      <p:font typeface="Inter Light" panose="020B0604020202020204" charset="0"/>
      <p:regular r:id="rId24"/>
      <p:bold r:id="rId25"/>
      <p:italic r:id="rId26"/>
      <p:boldItalic r:id="rId27"/>
    </p:embeddedFont>
    <p:embeddedFont>
      <p:font typeface="Inter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539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ano Ivan Oliva" userId="e88327b6-2883-44c6-8002-f4edf4e93d82" providerId="ADAL" clId="{604CBCC0-1343-4C10-8342-C7029B028C8A}"/>
    <pc:docChg chg="modSld">
      <pc:chgData name="Laureano Ivan Oliva" userId="e88327b6-2883-44c6-8002-f4edf4e93d82" providerId="ADAL" clId="{604CBCC0-1343-4C10-8342-C7029B028C8A}" dt="2026-10-03T22:11:46.720" v="13" actId="20577"/>
      <pc:docMkLst>
        <pc:docMk/>
      </pc:docMkLst>
      <pc:sldChg chg="modSp mod">
        <pc:chgData name="Laureano Ivan Oliva" userId="e88327b6-2883-44c6-8002-f4edf4e93d82" providerId="ADAL" clId="{604CBCC0-1343-4C10-8342-C7029B028C8A}" dt="2026-10-03T22:11:46.720" v="13" actId="20577"/>
        <pc:sldMkLst>
          <pc:docMk/>
          <pc:sldMk cId="0" sldId="263"/>
        </pc:sldMkLst>
        <pc:spChg chg="mod">
          <ac:chgData name="Laureano Ivan Oliva" userId="e88327b6-2883-44c6-8002-f4edf4e93d82" providerId="ADAL" clId="{604CBCC0-1343-4C10-8342-C7029B028C8A}" dt="2026-10-03T22:11:46.720" v="13" actId="20577"/>
          <ac:spMkLst>
            <pc:docMk/>
            <pc:sldMk cId="0" sldId="263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115a8c1a67b657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6115a8c1a67b657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115a8c1a67b657d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6115a8c1a67b657d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6115a8c1a67b657d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6115a8c1a67b657d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Presentamos el caso práctico. El dataset tips viene incluido en Seaborn y se carga con una sola línea. Cada fila es una mesa de un restaurante: cuánto se pagó, la propina, el día, si fue almuerzo o cena y cuántas personas había. Con este mismo dataset hicimos todos los gráficos, para que las diferencias sean de la librería y no de los datos.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Matplotlib no sabe agrupar ni calcular promedios: solo dibuja lo que le damos. Por eso primero usamos pandas (groupby y mean) y después le pasamos los valores. A cambio, permite controlar cada detalle del gráfico.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Seaborn agrupa por día y calcula el promedio por su cuenta. Por defecto agrega una barra de error; con errorbar=None la quitamos. Como usa Matplotlib por debajo, el resultado es idéntico al anterior: lo que cambia es cuánto código escribimos.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Plotly recibe la tabla como Seaborn, pero px.bar no agrupa, así que calculamos el promedio con pandas. La gran diferencia es que el gráfico es interactivo; esto es una captura, en la demo lo vamos a ver en vivo.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6115a8c1a67b657d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6115a8c1a67b657d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Acá pasamos al notebook demo.ipynb. Mostrar los cuatro gráficos con las tres librerías y, sobre todo, la interactividad de Plotly: hacer zoom, pasar el mouse por los puntos del gráfico de dispersión y ocultar almuerzo o cena desde la leyenda. Es lo único que no se puede mostrar en una slide.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hay una librería mejor que las otras: depende de para qué. Y no son excluyentes: en la práctica se combinan.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Agradecer y abrir a preguntas. Dejar el link del repositorio con el notebook y el código.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6115a8c1a67b657d_7_0)">
  <p:cSld name="Generated (h6115a8c1a67b657d_7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957262" y="3067050"/>
            <a:ext cx="10101300" cy="20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957262" y="3757613"/>
            <a:ext cx="10101300" cy="8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957250" y="3257550"/>
            <a:ext cx="10101300" cy="1323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4"/>
          <p:cNvGrpSpPr/>
          <p:nvPr/>
        </p:nvGrpSpPr>
        <p:grpSpPr>
          <a:xfrm>
            <a:off x="5900738" y="757238"/>
            <a:ext cx="2676600" cy="1914600"/>
            <a:chOff x="-4762" y="-4762"/>
            <a:chExt cx="2676600" cy="1914600"/>
          </a:xfrm>
        </p:grpSpPr>
        <p:pic>
          <p:nvPicPr>
            <p:cNvPr id="60" name="Google Shape;60;p1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-4762" y="-4762"/>
              <a:ext cx="2676600" cy="19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14"/>
            <p:cNvSpPr/>
            <p:nvPr/>
          </p:nvSpPr>
          <p:spPr>
            <a:xfrm>
              <a:off x="190500" y="571500"/>
              <a:ext cx="2286000" cy="857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quadBezTo>
                    <a:pt x="20000" y="26667"/>
                    <a:pt x="40000" y="80000"/>
                  </a:quadBezTo>
                  <a:lnTo>
                    <a:pt x="80000" y="0"/>
                  </a:lnTo>
                  <a:lnTo>
                    <a:pt x="120000" y="4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90500" y="571500"/>
              <a:ext cx="2286000" cy="1047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98182"/>
                  </a:moveTo>
                  <a:lnTo>
                    <a:pt x="20000" y="21818"/>
                  </a:lnTo>
                  <a:lnTo>
                    <a:pt x="40000" y="65455"/>
                  </a:lnTo>
                  <a:lnTo>
                    <a:pt x="80000" y="0"/>
                  </a:lnTo>
                  <a:lnTo>
                    <a:pt x="120000" y="32727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8BDF8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676400" y="5334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2438400" y="819150"/>
              <a:ext cx="76200" cy="76200"/>
            </a:xfrm>
            <a:prstGeom prst="ellipse">
              <a:avLst/>
            </a:prstGeom>
            <a:solidFill>
              <a:srgbClr val="818C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285750" y="285750"/>
              <a:ext cx="114300" cy="571500"/>
            </a:xfrm>
            <a:prstGeom prst="roundRect">
              <a:avLst>
                <a:gd name="adj" fmla="val 16666"/>
              </a:avLst>
            </a:prstGeom>
            <a:solidFill>
              <a:srgbClr val="818CF8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76250" y="476250"/>
              <a:ext cx="114300" cy="381000"/>
            </a:xfrm>
            <a:prstGeom prst="roundRect">
              <a:avLst>
                <a:gd name="adj" fmla="val 16666"/>
              </a:avLst>
            </a:prstGeom>
            <a:solidFill>
              <a:srgbClr val="38BDF8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666750" y="190500"/>
              <a:ext cx="114300" cy="666900"/>
            </a:xfrm>
            <a:prstGeom prst="roundRect">
              <a:avLst>
                <a:gd name="adj" fmla="val 16666"/>
              </a:avLst>
            </a:prstGeom>
            <a:solidFill>
              <a:srgbClr val="C084FC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8" name="Google Shape;68;p14"/>
            <p:cNvCxnSpPr/>
            <p:nvPr/>
          </p:nvCxnSpPr>
          <p:spPr>
            <a:xfrm>
              <a:off x="190500" y="1619250"/>
              <a:ext cx="2286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7556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9" name="Google Shape;69;p14"/>
          <p:cNvSpPr/>
          <p:nvPr/>
        </p:nvSpPr>
        <p:spPr>
          <a:xfrm>
            <a:off x="762000" y="762000"/>
            <a:ext cx="1524000" cy="247800"/>
          </a:xfrm>
          <a:prstGeom prst="roundRect">
            <a:avLst>
              <a:gd name="adj" fmla="val 50000"/>
            </a:avLst>
          </a:prstGeom>
          <a:solidFill>
            <a:srgbClr val="0369A1">
              <a:alpha val="30000"/>
            </a:srgbClr>
          </a:solidFill>
          <a:ln w="95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762000" y="762000"/>
            <a:ext cx="1524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0EA5E9"/>
                </a:solidFill>
                <a:latin typeface="Fira Code"/>
                <a:ea typeface="Fira Code"/>
                <a:cs typeface="Fira Code"/>
                <a:sym typeface="Fira Code"/>
              </a:rPr>
              <a:t>PYTHON </a:t>
            </a:r>
            <a:endParaRPr sz="900" b="0">
              <a:solidFill>
                <a:srgbClr val="0EA5E9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762000" y="1190625"/>
            <a:ext cx="4762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 Visualization</a:t>
            </a:r>
            <a:r>
              <a:rPr lang="es-419" sz="36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en Python</a:t>
            </a:r>
            <a:endParaRPr sz="3600" b="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2428875"/>
            <a:ext cx="4572000" cy="28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762000" y="261937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0">
                <a:solidFill>
                  <a:srgbClr val="38BDF8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Matplotlib · Seaborn · Plotly</a:t>
            </a:r>
            <a:endParaRPr sz="1600" b="0">
              <a:solidFill>
                <a:srgbClr val="38BDF8"/>
              </a:solidFill>
              <a:latin typeface="Fira Code SemiBold"/>
              <a:ea typeface="Fira Code SemiBold"/>
              <a:cs typeface="Fira Code SemiBold"/>
              <a:sym typeface="Fira Code SemiBold"/>
            </a:endParaRPr>
          </a:p>
        </p:txBody>
      </p:sp>
      <p:grpSp>
        <p:nvGrpSpPr>
          <p:cNvPr id="74" name="Google Shape;74;p14"/>
          <p:cNvGrpSpPr/>
          <p:nvPr/>
        </p:nvGrpSpPr>
        <p:grpSpPr>
          <a:xfrm>
            <a:off x="665100" y="3475550"/>
            <a:ext cx="3773691" cy="873990"/>
            <a:chOff x="0" y="0"/>
            <a:chExt cx="3619500" cy="809700"/>
          </a:xfrm>
        </p:grpSpPr>
        <p:sp>
          <p:nvSpPr>
            <p:cNvPr id="75" name="Google Shape;75;p14"/>
            <p:cNvSpPr/>
            <p:nvPr/>
          </p:nvSpPr>
          <p:spPr>
            <a:xfrm>
              <a:off x="0" y="0"/>
              <a:ext cx="3619500" cy="809700"/>
            </a:xfrm>
            <a:prstGeom prst="roundRect">
              <a:avLst>
                <a:gd name="adj" fmla="val 9411"/>
              </a:avLst>
            </a:prstGeom>
            <a:solidFill>
              <a:srgbClr val="1E293B">
                <a:alpha val="60000"/>
              </a:srgbClr>
            </a:solidFill>
            <a:ln w="1027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190500" y="1428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20" b="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Soporte – UTN FRRo</a:t>
              </a:r>
              <a:endParaRPr sz="1120" b="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24"/>
                </a:spcBef>
                <a:spcAft>
                  <a:spcPts val="0"/>
                </a:spcAft>
                <a:buNone/>
              </a:pPr>
              <a:r>
                <a:rPr lang="es-419" sz="112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Ciclo Lectivo: 2026</a:t>
              </a:r>
              <a:endParaRPr sz="112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4572000" y="3475551"/>
            <a:ext cx="4112133" cy="873990"/>
            <a:chOff x="0" y="0"/>
            <a:chExt cx="3810000" cy="8097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3810000" cy="809700"/>
            </a:xfrm>
            <a:prstGeom prst="roundRect">
              <a:avLst>
                <a:gd name="adj" fmla="val 9411"/>
              </a:avLst>
            </a:prstGeom>
            <a:solidFill>
              <a:srgbClr val="1E293B">
                <a:alpha val="60000"/>
              </a:srgbClr>
            </a:solidFill>
            <a:ln w="10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190500" y="11430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37" b="1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INTEGRANTES</a:t>
              </a:r>
              <a:endParaRPr sz="937" b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86"/>
                </a:spcBef>
                <a:spcAft>
                  <a:spcPts val="0"/>
                </a:spcAft>
                <a:buNone/>
              </a:pPr>
              <a:r>
                <a:rPr lang="es-419" sz="1020" b="0">
                  <a:solidFill>
                    <a:srgbClr val="CBD5E1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</a:t>
              </a:r>
              <a:r>
                <a:rPr lang="es-419" sz="1020">
                  <a:solidFill>
                    <a:srgbClr val="CBD5E1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Ortiz Valentino</a:t>
              </a:r>
              <a:endParaRPr sz="1020" b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20" b="0">
                  <a:solidFill>
                    <a:srgbClr val="CBD5E1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</a:t>
              </a:r>
              <a:r>
                <a:rPr lang="es-419" sz="1020">
                  <a:solidFill>
                    <a:srgbClr val="CBD5E1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Oliva Laureano</a:t>
              </a:r>
              <a:endParaRPr sz="1020" b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20" b="0">
                  <a:solidFill>
                    <a:srgbClr val="CBD5E1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</a:t>
              </a:r>
              <a:r>
                <a:rPr lang="es-419" sz="1020">
                  <a:solidFill>
                    <a:srgbClr val="CBD5E1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Ramirez Facundo</a:t>
              </a:r>
              <a:endParaRPr sz="1020" b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5"/>
          <p:cNvGrpSpPr/>
          <p:nvPr/>
        </p:nvGrpSpPr>
        <p:grpSpPr>
          <a:xfrm>
            <a:off x="571500" y="381000"/>
            <a:ext cx="1333500" cy="228600"/>
            <a:chOff x="0" y="0"/>
            <a:chExt cx="1333500" cy="2286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1333500" cy="228600"/>
            </a:xfrm>
            <a:prstGeom prst="roundRect">
              <a:avLst>
                <a:gd name="adj" fmla="val 50000"/>
              </a:avLst>
            </a:prstGeom>
            <a:solidFill>
              <a:srgbClr val="0369A1">
                <a:alpha val="30000"/>
              </a:srgbClr>
            </a:solidFill>
            <a:ln w="9525" cap="flat" cmpd="sng">
              <a:solidFill>
                <a:srgbClr val="0EA5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0" y="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00">
                  <a:solidFill>
                    <a:srgbClr val="0EA5E9"/>
                  </a:solidFill>
                  <a:latin typeface="Fira Code"/>
                  <a:ea typeface="Fira Code"/>
                  <a:cs typeface="Fira Code"/>
                  <a:sym typeface="Fira Code"/>
                </a:rPr>
                <a:t>CONCEPTO</a:t>
              </a:r>
              <a:endParaRPr sz="900">
                <a:solidFill>
                  <a:srgbClr val="0EA5E9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88" name="Google Shape;88;p15"/>
          <p:cNvSpPr txBox="1"/>
          <p:nvPr/>
        </p:nvSpPr>
        <p:spPr>
          <a:xfrm>
            <a:off x="571500" y="714375"/>
            <a:ext cx="457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¿Qué es y por qué importa?</a:t>
            </a:r>
            <a:endParaRPr sz="2600" b="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89" name="Google Shape;89;p15"/>
          <p:cNvGrpSpPr/>
          <p:nvPr/>
        </p:nvGrpSpPr>
        <p:grpSpPr>
          <a:xfrm>
            <a:off x="433426" y="1333500"/>
            <a:ext cx="4710074" cy="666900"/>
            <a:chOff x="-138074" y="0"/>
            <a:chExt cx="4710074" cy="6669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4572000" cy="666900"/>
            </a:xfrm>
            <a:prstGeom prst="roundRect">
              <a:avLst>
                <a:gd name="adj" fmla="val 11428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133350" y="180975"/>
              <a:ext cx="304800" cy="304800"/>
            </a:xfrm>
            <a:prstGeom prst="ellipse">
              <a:avLst/>
            </a:prstGeom>
            <a:solidFill>
              <a:srgbClr val="0284C7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8" name="Picture 107" descr="icon_bar_char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4310" y="241935"/>
              <a:ext cx="182880" cy="182880"/>
            </a:xfrm>
            <a:prstGeom prst="rect">
              <a:avLst/>
            </a:prstGeom>
          </p:spPr>
        </p:pic>
        <p:sp>
          <p:nvSpPr>
            <p:cNvPr id="93" name="Google Shape;93;p15"/>
            <p:cNvSpPr txBox="1"/>
            <p:nvPr/>
          </p:nvSpPr>
          <p:spPr>
            <a:xfrm>
              <a:off x="571500" y="114300"/>
              <a:ext cx="381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5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Representar datos gráficamente</a:t>
              </a:r>
              <a:endParaRPr sz="1105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35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Transforma números complejos en formas visuales comprensibles.</a:t>
              </a:r>
              <a:endParaRPr sz="935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571500" y="2095500"/>
            <a:ext cx="4572000" cy="666900"/>
            <a:chOff x="0" y="0"/>
            <a:chExt cx="4572000" cy="6669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4572000" cy="666900"/>
            </a:xfrm>
            <a:prstGeom prst="roundRect">
              <a:avLst>
                <a:gd name="adj" fmla="val 11428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133350" y="180975"/>
              <a:ext cx="304800" cy="304800"/>
            </a:xfrm>
            <a:prstGeom prst="ellipse">
              <a:avLst/>
            </a:prstGeom>
            <a:solidFill>
              <a:srgbClr val="0284C7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9" name="Picture 108" descr="icon_search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4310" y="241935"/>
              <a:ext cx="182880" cy="182880"/>
            </a:xfrm>
            <a:prstGeom prst="rect">
              <a:avLst/>
            </a:prstGeom>
          </p:spPr>
        </p:pic>
        <p:sp>
          <p:nvSpPr>
            <p:cNvPr id="98" name="Google Shape;98;p15"/>
            <p:cNvSpPr txBox="1"/>
            <p:nvPr/>
          </p:nvSpPr>
          <p:spPr>
            <a:xfrm>
              <a:off x="571500" y="114300"/>
              <a:ext cx="381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5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Detectar patrones y anomalías</a:t>
              </a:r>
              <a:endParaRPr sz="1105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35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Identifica tendencias, ciclos y valores atípicos al instante.</a:t>
              </a:r>
              <a:endParaRPr sz="935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480517" y="2857500"/>
            <a:ext cx="4662983" cy="666900"/>
            <a:chOff x="-90983" y="0"/>
            <a:chExt cx="4662983" cy="666900"/>
          </a:xfrm>
        </p:grpSpPr>
        <p:sp>
          <p:nvSpPr>
            <p:cNvPr id="100" name="Google Shape;100;p15"/>
            <p:cNvSpPr/>
            <p:nvPr/>
          </p:nvSpPr>
          <p:spPr>
            <a:xfrm>
              <a:off x="0" y="0"/>
              <a:ext cx="4572000" cy="666900"/>
            </a:xfrm>
            <a:prstGeom prst="roundRect">
              <a:avLst>
                <a:gd name="adj" fmla="val 11428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133350" y="180975"/>
              <a:ext cx="304800" cy="304800"/>
            </a:xfrm>
            <a:prstGeom prst="ellipse">
              <a:avLst/>
            </a:prstGeom>
            <a:solidFill>
              <a:srgbClr val="0284C7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0" name="Picture 109" descr="icon_insights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4310" y="241935"/>
              <a:ext cx="182880" cy="182880"/>
            </a:xfrm>
            <a:prstGeom prst="rect">
              <a:avLst/>
            </a:prstGeom>
          </p:spPr>
        </p:pic>
        <p:sp>
          <p:nvSpPr>
            <p:cNvPr id="103" name="Google Shape;103;p15"/>
            <p:cNvSpPr txBox="1"/>
            <p:nvPr/>
          </p:nvSpPr>
          <p:spPr>
            <a:xfrm>
              <a:off x="571500" y="114300"/>
              <a:ext cx="381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5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Explorar, comunicar y decidir</a:t>
              </a:r>
              <a:endParaRPr sz="1105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35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Facilita el análisis, la transmisión de ideas y la toma de decisiones.</a:t>
              </a:r>
              <a:endParaRPr sz="935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571500" y="3667125"/>
            <a:ext cx="4572000" cy="790500"/>
            <a:chOff x="0" y="0"/>
            <a:chExt cx="4572000" cy="790500"/>
          </a:xfrm>
        </p:grpSpPr>
        <p:sp>
          <p:nvSpPr>
            <p:cNvPr id="105" name="Google Shape;105;p15"/>
            <p:cNvSpPr/>
            <p:nvPr/>
          </p:nvSpPr>
          <p:spPr>
            <a:xfrm>
              <a:off x="0" y="0"/>
              <a:ext cx="4572000" cy="666900"/>
            </a:xfrm>
            <a:prstGeom prst="roundRect">
              <a:avLst>
                <a:gd name="adj" fmla="val 8421"/>
              </a:avLst>
            </a:prstGeom>
            <a:solidFill>
              <a:srgbClr val="1E293B">
                <a:alpha val="90000"/>
              </a:srgbClr>
            </a:solidFill>
            <a:ln w="9525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52400" y="114300"/>
              <a:ext cx="4267200" cy="67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35" b="0">
                  <a:solidFill>
                    <a:srgbClr val="38BDF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EJEMPLO: El Cuarteto de Anscombe</a:t>
              </a:r>
              <a:endParaRPr sz="935" b="0">
                <a:solidFill>
                  <a:srgbClr val="38BDF8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419" sz="97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Cuatro conjuntos de datos con estadísticas descriptivas idénticas que revelan distribuciones completamente distintas al ser graficados.</a:t>
              </a:r>
              <a:endParaRPr sz="97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07" name="Google Shape;107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0448" y="1501572"/>
            <a:ext cx="3726025" cy="2708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16"/>
          <p:cNvGrpSpPr/>
          <p:nvPr/>
        </p:nvGrpSpPr>
        <p:grpSpPr>
          <a:xfrm>
            <a:off x="571500" y="381000"/>
            <a:ext cx="1333500" cy="228600"/>
            <a:chOff x="0" y="0"/>
            <a:chExt cx="1333500" cy="228600"/>
          </a:xfrm>
        </p:grpSpPr>
        <p:sp>
          <p:nvSpPr>
            <p:cNvPr id="113" name="Google Shape;113;p16"/>
            <p:cNvSpPr/>
            <p:nvPr/>
          </p:nvSpPr>
          <p:spPr>
            <a:xfrm>
              <a:off x="0" y="0"/>
              <a:ext cx="1333500" cy="228600"/>
            </a:xfrm>
            <a:prstGeom prst="roundRect">
              <a:avLst>
                <a:gd name="adj" fmla="val 50000"/>
              </a:avLst>
            </a:prstGeom>
            <a:solidFill>
              <a:srgbClr val="0369A1">
                <a:alpha val="30000"/>
              </a:srgbClr>
            </a:solidFill>
            <a:ln w="9525" cap="flat" cmpd="sng">
              <a:solidFill>
                <a:srgbClr val="0EA5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0" y="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00">
                  <a:solidFill>
                    <a:srgbClr val="0EA5E9"/>
                  </a:solidFill>
                  <a:latin typeface="Fira Code"/>
                  <a:ea typeface="Fira Code"/>
                  <a:cs typeface="Fira Code"/>
                  <a:sym typeface="Fira Code"/>
                </a:rPr>
                <a:t>HERRAMIENTAS</a:t>
              </a:r>
              <a:endParaRPr sz="900">
                <a:solidFill>
                  <a:srgbClr val="0EA5E9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15" name="Google Shape;115;p16"/>
          <p:cNvSpPr txBox="1"/>
          <p:nvPr/>
        </p:nvSpPr>
        <p:spPr>
          <a:xfrm>
            <a:off x="571500" y="714375"/>
            <a:ext cx="8001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El ecosistema de Python</a:t>
            </a:r>
            <a:endParaRPr sz="2600" b="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16" name="Google Shape;116;p16"/>
          <p:cNvGrpSpPr/>
          <p:nvPr/>
        </p:nvGrpSpPr>
        <p:grpSpPr>
          <a:xfrm>
            <a:off x="566738" y="1328738"/>
            <a:ext cx="2486100" cy="2200200"/>
            <a:chOff x="-4762" y="-4762"/>
            <a:chExt cx="2486100" cy="2200200"/>
          </a:xfrm>
        </p:grpSpPr>
        <p:pic>
          <p:nvPicPr>
            <p:cNvPr id="117" name="Google Shape;117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762" y="-4762"/>
              <a:ext cx="2486100" cy="22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6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0284C7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4" name="Picture 133" descr="icon_palet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8600" y="228600"/>
              <a:ext cx="228600" cy="228600"/>
            </a:xfrm>
            <a:prstGeom prst="rect">
              <a:avLst/>
            </a:prstGeom>
          </p:spPr>
        </p:pic>
        <p:sp>
          <p:nvSpPr>
            <p:cNvPr id="120" name="Google Shape;120;p16"/>
            <p:cNvSpPr txBox="1"/>
            <p:nvPr/>
          </p:nvSpPr>
          <p:spPr>
            <a:xfrm>
              <a:off x="190500" y="666750"/>
              <a:ext cx="20955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5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Matplotlib</a:t>
              </a:r>
              <a:endParaRPr sz="15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s-419" sz="10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El lienzo y los pinceles</a:t>
              </a:r>
              <a:endParaRPr sz="10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Ofrece control total sobre cada elemento del gráfico. Ideal para personalización absoluta y publicaciones académicas.</a:t>
              </a:r>
              <a:endParaRPr sz="1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3328988" y="1328738"/>
            <a:ext cx="2486100" cy="2200200"/>
            <a:chOff x="-4762" y="-4762"/>
            <a:chExt cx="2486100" cy="2200200"/>
          </a:xfrm>
        </p:grpSpPr>
        <p:pic>
          <p:nvPicPr>
            <p:cNvPr id="122" name="Google Shape;122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762" y="-4762"/>
              <a:ext cx="2486100" cy="22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6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0284C7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" name="Picture 134" descr="icon_auto_graph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8600" y="228600"/>
              <a:ext cx="228600" cy="228600"/>
            </a:xfrm>
            <a:prstGeom prst="rect">
              <a:avLst/>
            </a:prstGeom>
          </p:spPr>
        </p:pic>
        <p:sp>
          <p:nvSpPr>
            <p:cNvPr id="125" name="Google Shape;125;p16"/>
            <p:cNvSpPr txBox="1"/>
            <p:nvPr/>
          </p:nvSpPr>
          <p:spPr>
            <a:xfrm>
              <a:off x="190500" y="666750"/>
              <a:ext cx="20955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5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Seaborn</a:t>
              </a:r>
              <a:endParaRPr sz="15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s-419" sz="10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Las plantillas</a:t>
              </a:r>
              <a:endParaRPr sz="10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Visualización estadística en pocas líneas. Integración nativa con pandas y estilos de alto nivel integrados.</a:t>
              </a:r>
              <a:endParaRPr sz="1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6091238" y="1328738"/>
            <a:ext cx="2486100" cy="2200200"/>
            <a:chOff x="-4762" y="-4762"/>
            <a:chExt cx="2486100" cy="2200200"/>
          </a:xfrm>
        </p:grpSpPr>
        <p:pic>
          <p:nvPicPr>
            <p:cNvPr id="127" name="Google Shape;127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-4762" y="-4762"/>
              <a:ext cx="2486100" cy="22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6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0284C7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6" name="Picture 135" descr="icon_touch_app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8600" y="228600"/>
              <a:ext cx="228600" cy="228600"/>
            </a:xfrm>
            <a:prstGeom prst="rect">
              <a:avLst/>
            </a:prstGeom>
          </p:spPr>
        </p:pic>
        <p:sp>
          <p:nvSpPr>
            <p:cNvPr id="130" name="Google Shape;130;p16"/>
            <p:cNvSpPr txBox="1"/>
            <p:nvPr/>
          </p:nvSpPr>
          <p:spPr>
            <a:xfrm>
              <a:off x="190500" y="666750"/>
              <a:ext cx="20955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5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Plotly</a:t>
              </a:r>
              <a:endParaRPr sz="15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s-419" sz="10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El lienzo con vida</a:t>
              </a:r>
              <a:endParaRPr sz="10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Especializado en gráficos interactivos y tableros web dinamicos. Excelente para exploración analítica profunda.</a:t>
              </a:r>
              <a:endParaRPr sz="1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571500" y="3762375"/>
            <a:ext cx="8001000" cy="619200"/>
            <a:chOff x="0" y="0"/>
            <a:chExt cx="8001000" cy="619200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8001000" cy="619200"/>
            </a:xfrm>
            <a:prstGeom prst="roundRect">
              <a:avLst>
                <a:gd name="adj" fmla="val 12307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190500" y="114300"/>
              <a:ext cx="76200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38BDF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OTRAS ALTERNATIVAS DESTACADAS</a:t>
              </a:r>
              <a:endParaRPr sz="950" b="0">
                <a:solidFill>
                  <a:srgbClr val="38BDF8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También existen: </a:t>
              </a:r>
              <a:r>
                <a:rPr lang="es-419" sz="1000" b="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Bokeh</a:t>
              </a:r>
              <a:r>
                <a:rPr lang="es-419" sz="10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y </a:t>
              </a:r>
              <a:r>
                <a:rPr lang="es-419" sz="1000" b="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Altair</a:t>
              </a:r>
              <a:r>
                <a:rPr lang="es-419" sz="10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para necesidades específicas de interactividad y gramática declarativa.</a:t>
              </a:r>
              <a:endParaRPr sz="10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381000"/>
            <a:ext cx="1333500" cy="228600"/>
          </a:xfrm>
          <a:prstGeom prst="roundRect">
            <a:avLst>
              <a:gd name="adj" fmla="val 50000"/>
            </a:avLst>
          </a:prstGeom>
          <a:solidFill>
            <a:srgbClr val="0369A1">
              <a:alpha val="30000"/>
            </a:srgbClr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EA5E9"/>
                </a:solidFill>
                <a:latin typeface="Fira Code"/>
                <a:ea typeface="Fira Code"/>
                <a:cs typeface="Fira Code"/>
              </a:rPr>
              <a:t>CASO PRÁCTICO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714375"/>
            <a:ext cx="8001000" cy="4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El dataset: tips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328738"/>
            <a:ext cx="2476500" cy="16002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1557338"/>
            <a:ext cx="2095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</a:rPr>
              <a:t>244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57438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mesas atendidas en un restaurante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3750" y="1328738"/>
            <a:ext cx="2476500" cy="16002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4250" y="1557338"/>
            <a:ext cx="2095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</a:rPr>
              <a:t>19,79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4250" y="2357438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cuenta promedio, en dólares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1328738"/>
            <a:ext cx="2476500" cy="16002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6500" y="1557338"/>
            <a:ext cx="2095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</a:rPr>
              <a:t>3,00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2357438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propina promedio, en dólares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200400"/>
            <a:ext cx="8001000" cy="11811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2000" y="3352800"/>
            <a:ext cx="762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8BDF8"/>
                </a:solidFill>
                <a:latin typeface="Fira Code SemiBold"/>
                <a:ea typeface="Fira Code SemiBold"/>
                <a:cs typeface="Fira Code SemiBold"/>
              </a:rPr>
              <a:t>SE CARGA EN UNA LÍNEA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tips = sns.load_dataset(</a:t>
            </a:r>
            <a:r>
              <a:rPr sz="1200" b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"tips"</a:t>
            </a:r>
            <a:r>
              <a:rPr sz="120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)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Columnas: total de la cuenta, propina, día, almuerzo o cena y cantidad de personas.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381000"/>
            <a:ext cx="1600200" cy="228600"/>
          </a:xfrm>
          <a:prstGeom prst="roundRect">
            <a:avLst>
              <a:gd name="adj" fmla="val 50000"/>
            </a:avLst>
          </a:prstGeom>
          <a:solidFill>
            <a:srgbClr val="0369A1">
              <a:alpha val="30000"/>
            </a:srgbClr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EA5E9"/>
                </a:solidFill>
                <a:latin typeface="Fira Code"/>
                <a:ea typeface="Fira Code"/>
                <a:cs typeface="Fira Code"/>
              </a:rPr>
              <a:t>MATPLOTLIB ·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714375"/>
            <a:ext cx="8001000" cy="4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Matplotlib: calculamos y dibujamos a mano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328738"/>
            <a:ext cx="4343400" cy="17145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4380" y="1465898"/>
            <a:ext cx="39776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Fira Code"/>
                <a:ea typeface="Fira Code"/>
                <a:cs typeface="Fira Code"/>
              </a:rPr>
              <a:t>VERSIÓN RESUMIDA · 5 LÍNEAS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" y="1748738"/>
            <a:ext cx="3977640" cy="119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prom = </a:t>
            </a:r>
            <a:r>
              <a:rPr sz="1050" b="0" dirty="0" err="1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tips.groupby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sz="1050" b="0" dirty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"day"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)[</a:t>
            </a:r>
            <a:r>
              <a:rPr sz="1050" b="0" dirty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"tip"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].mean()</a:t>
            </a:r>
          </a:p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fig, ax = </a:t>
            </a:r>
            <a:r>
              <a:rPr sz="1050" b="0" dirty="0" err="1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plt.subplots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()</a:t>
            </a:r>
          </a:p>
          <a:p>
            <a:pPr algn="l">
              <a:lnSpc>
                <a:spcPct val="125000"/>
              </a:lnSpc>
            </a:pPr>
            <a:r>
              <a:rPr sz="1050" b="0" dirty="0" err="1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ax.bar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sz="1050" b="0" dirty="0" err="1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prom.index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sz="1050" b="0" dirty="0" err="1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prom.values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050" b="0" dirty="0" err="1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ax.set_title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sz="1050" b="0" dirty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</a:t>
            </a:r>
            <a:r>
              <a:rPr sz="1050" b="0" dirty="0" err="1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Propina</a:t>
            </a:r>
            <a:r>
              <a:rPr sz="1050" b="0" dirty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sz="1050" b="0" dirty="0" err="1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promedio</a:t>
            </a:r>
            <a:r>
              <a:rPr sz="1050" b="0" dirty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sz="1050" b="0" dirty="0" err="1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por</a:t>
            </a:r>
            <a:r>
              <a:rPr sz="1050" b="0" dirty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 día"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050" b="0" dirty="0" err="1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plt.show</a:t>
            </a:r>
            <a:r>
              <a:rPr sz="1050" b="0" dirty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223238"/>
            <a:ext cx="43434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Bef>
                <a:spcPts val="900"/>
              </a:spcBef>
              <a:buClr>
                <a:srgbClr val="38BDF8"/>
              </a:buClr>
              <a:buFont typeface="Arial"/>
              <a:buChar char="•"/>
            </a:pP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El promedio lo calculamos </a:t>
            </a:r>
            <a:r>
              <a:rPr sz="11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antes, con pandas</a:t>
            </a: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marL="171450" indent="-171450" algn="l">
              <a:spcBef>
                <a:spcPts val="900"/>
              </a:spcBef>
              <a:buClr>
                <a:srgbClr val="38BDF8"/>
              </a:buClr>
              <a:buFont typeface="Arial"/>
              <a:buChar char="•"/>
            </a:pP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Barras, título y ejes se configuran </a:t>
            </a:r>
            <a:r>
              <a:rPr sz="11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por separado</a:t>
            </a: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marL="171450" indent="-171450" algn="l">
              <a:spcBef>
                <a:spcPts val="900"/>
              </a:spcBef>
              <a:buClr>
                <a:srgbClr val="38BDF8"/>
              </a:buClr>
              <a:buFont typeface="Arial"/>
              <a:buChar char="•"/>
            </a:pP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Resultado: una </a:t>
            </a:r>
            <a:r>
              <a:rPr sz="11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imagen estática</a:t>
            </a: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pic>
        <p:nvPicPr>
          <p:cNvPr id="9" name="Picture 8" descr="chart_matplot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328738"/>
            <a:ext cx="3429000" cy="2571750"/>
          </a:xfrm>
          <a:prstGeom prst="rect">
            <a:avLst/>
          </a:prstGeom>
          <a:ln w="9525">
            <a:solidFill>
              <a:srgbClr val="33415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143500" y="3991928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Gráfico generado con 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381000"/>
            <a:ext cx="1600200" cy="228600"/>
          </a:xfrm>
          <a:prstGeom prst="roundRect">
            <a:avLst>
              <a:gd name="adj" fmla="val 50000"/>
            </a:avLst>
          </a:prstGeom>
          <a:solidFill>
            <a:srgbClr val="0369A1">
              <a:alpha val="30000"/>
            </a:srgbClr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EA5E9"/>
                </a:solidFill>
                <a:latin typeface="Fira Code"/>
                <a:ea typeface="Fira Code"/>
                <a:cs typeface="Fira Code"/>
              </a:rPr>
              <a:t>SEABORN ·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714375"/>
            <a:ext cx="8001000" cy="4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Seaborn: le damos la tabla y calcula solo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328738"/>
            <a:ext cx="4343400" cy="17145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4380" y="1465898"/>
            <a:ext cx="39776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Fira Code"/>
                <a:ea typeface="Fira Code"/>
                <a:cs typeface="Fira Code"/>
              </a:rPr>
              <a:t>VERSIÓN RESUMIDA · 4 LÍNEAS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" y="1748738"/>
            <a:ext cx="3977640" cy="119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sns.barplot(data=tips, x=</a:t>
            </a:r>
            <a:r>
              <a:rPr sz="1050" b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"day"</a:t>
            </a: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, y=</a:t>
            </a:r>
            <a:r>
              <a:rPr sz="1050" b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"tip"</a:t>
            </a: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            errorbar=None)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plt.title(</a:t>
            </a:r>
            <a:r>
              <a:rPr sz="1050" b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"Propina promedio por día"</a:t>
            </a: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plt.show()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223238"/>
            <a:ext cx="43434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Bef>
                <a:spcPts val="900"/>
              </a:spcBef>
              <a:buClr>
                <a:srgbClr val="38BDF8"/>
              </a:buClr>
              <a:buFont typeface="Arial"/>
              <a:buChar char="•"/>
            </a:pP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Recibe la </a:t>
            </a:r>
            <a:r>
              <a:rPr sz="11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tabla entera</a:t>
            </a: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 y los nombres de columnas.</a:t>
            </a:r>
          </a:p>
          <a:p>
            <a:pPr marL="171450" indent="-171450" algn="l">
              <a:spcBef>
                <a:spcPts val="900"/>
              </a:spcBef>
              <a:buClr>
                <a:srgbClr val="38BDF8"/>
              </a:buClr>
              <a:buFont typeface="Arial"/>
              <a:buChar char="•"/>
            </a:pP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Calcula el promedio </a:t>
            </a:r>
            <a:r>
              <a:rPr sz="11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sin pandas</a:t>
            </a: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marL="171450" indent="-171450" algn="l">
              <a:spcBef>
                <a:spcPts val="900"/>
              </a:spcBef>
              <a:buClr>
                <a:srgbClr val="38BDF8"/>
              </a:buClr>
              <a:buFont typeface="Arial"/>
              <a:buChar char="•"/>
            </a:pP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Dibuja con </a:t>
            </a:r>
            <a:r>
              <a:rPr sz="11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Matplotlib por debajo</a:t>
            </a:r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: se ve igual.</a:t>
            </a:r>
          </a:p>
        </p:txBody>
      </p:sp>
      <p:pic>
        <p:nvPicPr>
          <p:cNvPr id="9" name="Picture 8" descr="chart_seabo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328738"/>
            <a:ext cx="3429000" cy="2571750"/>
          </a:xfrm>
          <a:prstGeom prst="rect">
            <a:avLst/>
          </a:prstGeom>
          <a:ln w="9525">
            <a:solidFill>
              <a:srgbClr val="33415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143500" y="3991928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Gráfico generado con Seaborn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381000"/>
            <a:ext cx="1600200" cy="228600"/>
          </a:xfrm>
          <a:prstGeom prst="roundRect">
            <a:avLst>
              <a:gd name="adj" fmla="val 50000"/>
            </a:avLst>
          </a:prstGeom>
          <a:solidFill>
            <a:srgbClr val="0369A1">
              <a:alpha val="30000"/>
            </a:srgbClr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EA5E9"/>
                </a:solidFill>
                <a:latin typeface="Fira Code"/>
                <a:ea typeface="Fira Code"/>
                <a:cs typeface="Fira Code"/>
              </a:rPr>
              <a:t>PLOTLY ·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714375"/>
            <a:ext cx="8001000" cy="4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Plotly: un gráfico que se puede explorar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328738"/>
            <a:ext cx="4343400" cy="17145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4380" y="1465898"/>
            <a:ext cx="39776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Fira Code"/>
                <a:ea typeface="Fira Code"/>
                <a:cs typeface="Fira Code"/>
              </a:rPr>
              <a:t>VERSIÓN RESUMIDA · 5 LÍNEAS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" y="1748738"/>
            <a:ext cx="3977640" cy="119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prom = tips.groupby(</a:t>
            </a:r>
            <a:r>
              <a:rPr sz="1050" b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"day"</a:t>
            </a: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)[</a:t>
            </a:r>
            <a:r>
              <a:rPr sz="1050" b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"tip"</a:t>
            </a: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].mean()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fig = px.bar(prom.reset_index(),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             x=</a:t>
            </a:r>
            <a:r>
              <a:rPr sz="1050" b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"day"</a:t>
            </a: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, y=</a:t>
            </a:r>
            <a:r>
              <a:rPr sz="1050" b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"tip"</a:t>
            </a: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             title=</a:t>
            </a:r>
            <a:r>
              <a:rPr sz="1050" b="0">
                <a:solidFill>
                  <a:srgbClr val="FDBA74"/>
                </a:solidFill>
                <a:latin typeface="Fira Code"/>
                <a:ea typeface="Fira Code"/>
                <a:cs typeface="Fira Code"/>
              </a:rPr>
              <a:t>"Propina promedio por día"</a:t>
            </a: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E2E8F0"/>
                </a:solidFill>
                <a:latin typeface="Fira Code"/>
                <a:ea typeface="Fira Code"/>
                <a:cs typeface="Fira Code"/>
              </a:rPr>
              <a:t>fig.show()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223238"/>
            <a:ext cx="4343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Bef>
                <a:spcPts val="900"/>
              </a:spcBef>
              <a:buClr>
                <a:srgbClr val="38BDF8"/>
              </a:buClr>
              <a:buFont typeface="Arial"/>
              <a:buChar char="•"/>
            </a:pPr>
            <a:r>
              <a:rPr sz="1100" b="0" dirty="0" err="1">
                <a:solidFill>
                  <a:srgbClr val="CBD5E1"/>
                </a:solidFill>
                <a:latin typeface="Inter"/>
                <a:ea typeface="Inter"/>
                <a:cs typeface="Inter"/>
              </a:rPr>
              <a:t>px.bar</a:t>
            </a: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 </a:t>
            </a:r>
            <a:r>
              <a:rPr sz="1100" b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no </a:t>
            </a:r>
            <a:r>
              <a:rPr sz="1100" b="0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calcula</a:t>
            </a:r>
            <a:r>
              <a:rPr sz="1100" b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promedios</a:t>
            </a: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: </a:t>
            </a:r>
            <a:r>
              <a:rPr sz="1100" b="0" dirty="0" err="1">
                <a:solidFill>
                  <a:srgbClr val="CBD5E1"/>
                </a:solidFill>
                <a:latin typeface="Inter"/>
                <a:ea typeface="Inter"/>
                <a:cs typeface="Inter"/>
              </a:rPr>
              <a:t>usamos</a:t>
            </a: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 pandas.</a:t>
            </a:r>
          </a:p>
          <a:p>
            <a:pPr marL="171450" indent="-171450" algn="l">
              <a:spcBef>
                <a:spcPts val="900"/>
              </a:spcBef>
              <a:buClr>
                <a:srgbClr val="38BDF8"/>
              </a:buClr>
              <a:buFont typeface="Arial"/>
              <a:buChar char="•"/>
            </a:pP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Zoom y </a:t>
            </a:r>
            <a:r>
              <a:rPr sz="1100" b="0" dirty="0" err="1">
                <a:solidFill>
                  <a:srgbClr val="CBD5E1"/>
                </a:solidFill>
                <a:latin typeface="Inter"/>
                <a:ea typeface="Inter"/>
                <a:cs typeface="Inter"/>
              </a:rPr>
              <a:t>valores</a:t>
            </a: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 al </a:t>
            </a:r>
            <a:r>
              <a:rPr sz="1100" b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pasar el mouse</a:t>
            </a: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marL="171450" indent="-171450" algn="l">
              <a:spcBef>
                <a:spcPts val="900"/>
              </a:spcBef>
              <a:buClr>
                <a:srgbClr val="38BDF8"/>
              </a:buClr>
              <a:buFont typeface="Arial"/>
              <a:buChar char="•"/>
            </a:pP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Se </a:t>
            </a:r>
            <a:r>
              <a:rPr sz="1100" b="0" dirty="0" err="1">
                <a:solidFill>
                  <a:srgbClr val="CBD5E1"/>
                </a:solidFill>
                <a:latin typeface="Inter"/>
                <a:ea typeface="Inter"/>
                <a:cs typeface="Inter"/>
              </a:rPr>
              <a:t>ve</a:t>
            </a: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 </a:t>
            </a:r>
            <a:r>
              <a:rPr sz="1100" b="0" dirty="0" err="1">
                <a:solidFill>
                  <a:srgbClr val="CBD5E1"/>
                </a:solidFill>
                <a:latin typeface="Inter"/>
                <a:ea typeface="Inter"/>
                <a:cs typeface="Inter"/>
              </a:rPr>
              <a:t>en</a:t>
            </a: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 el </a:t>
            </a:r>
            <a:r>
              <a:rPr sz="1100" b="0" dirty="0" err="1">
                <a:solidFill>
                  <a:srgbClr val="CBD5E1"/>
                </a:solidFill>
                <a:latin typeface="Inter"/>
                <a:ea typeface="Inter"/>
                <a:cs typeface="Inter"/>
              </a:rPr>
              <a:t>navegador</a:t>
            </a:r>
            <a:r>
              <a:rPr sz="1100" b="0" dirty="0">
                <a:solidFill>
                  <a:srgbClr val="CBD5E1"/>
                </a:solidFill>
                <a:latin typeface="Inter"/>
                <a:ea typeface="Inter"/>
                <a:cs typeface="Inter"/>
              </a:rPr>
              <a:t> o VS Code.</a:t>
            </a:r>
          </a:p>
        </p:txBody>
      </p:sp>
      <p:pic>
        <p:nvPicPr>
          <p:cNvPr id="9" name="Picture 8" descr="chart_plot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328738"/>
            <a:ext cx="3429000" cy="2571750"/>
          </a:xfrm>
          <a:prstGeom prst="rect">
            <a:avLst/>
          </a:prstGeom>
          <a:ln w="9525">
            <a:solidFill>
              <a:srgbClr val="33415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143500" y="3991928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Captura del gráfico interactivo generado con Plotly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7"/>
          <p:cNvGrpSpPr/>
          <p:nvPr/>
        </p:nvGrpSpPr>
        <p:grpSpPr>
          <a:xfrm>
            <a:off x="571500" y="333375"/>
            <a:ext cx="1333500" cy="228600"/>
            <a:chOff x="0" y="0"/>
            <a:chExt cx="1333500" cy="22860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1333500" cy="228600"/>
            </a:xfrm>
            <a:prstGeom prst="roundRect">
              <a:avLst>
                <a:gd name="adj" fmla="val 50000"/>
              </a:avLst>
            </a:prstGeom>
            <a:solidFill>
              <a:srgbClr val="0369A1">
                <a:alpha val="30000"/>
              </a:srgbClr>
            </a:solidFill>
            <a:ln w="9525" cap="flat" cmpd="sng">
              <a:solidFill>
                <a:srgbClr val="0EA5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0" y="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00">
                  <a:solidFill>
                    <a:srgbClr val="0EA5E9"/>
                  </a:solidFill>
                  <a:latin typeface="Fira Code"/>
                  <a:ea typeface="Fira Code"/>
                  <a:cs typeface="Fira Code"/>
                  <a:sym typeface="Fira Code"/>
                </a:rPr>
                <a:t>COMPARATIVA</a:t>
              </a:r>
              <a:endParaRPr sz="900">
                <a:solidFill>
                  <a:srgbClr val="0EA5E9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41" name="Google Shape;141;p17"/>
          <p:cNvSpPr txBox="1"/>
          <p:nvPr/>
        </p:nvSpPr>
        <p:spPr>
          <a:xfrm>
            <a:off x="571500" y="6477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5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Matplotlib vs. Seaborn vs. Plotly</a:t>
            </a:r>
            <a:endParaRPr sz="2405" b="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42" name="Google Shape;142;p17"/>
          <p:cNvGrpSpPr/>
          <p:nvPr/>
        </p:nvGrpSpPr>
        <p:grpSpPr>
          <a:xfrm>
            <a:off x="571500" y="1123950"/>
            <a:ext cx="8001000" cy="2476500"/>
            <a:chOff x="0" y="0"/>
            <a:chExt cx="8001000" cy="2476500"/>
          </a:xfrm>
        </p:grpSpPr>
        <p:sp>
          <p:nvSpPr>
            <p:cNvPr id="143" name="Google Shape;143;p17"/>
            <p:cNvSpPr/>
            <p:nvPr/>
          </p:nvSpPr>
          <p:spPr>
            <a:xfrm>
              <a:off x="0" y="0"/>
              <a:ext cx="8001000" cy="2476500"/>
            </a:xfrm>
            <a:prstGeom prst="roundRect">
              <a:avLst>
                <a:gd name="adj" fmla="val 3076"/>
              </a:avLst>
            </a:prstGeom>
            <a:solidFill>
              <a:srgbClr val="1E293B">
                <a:alpha val="4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0" y="0"/>
              <a:ext cx="8001000" cy="381000"/>
            </a:xfrm>
            <a:prstGeom prst="roundRect">
              <a:avLst>
                <a:gd name="adj" fmla="val 20000"/>
              </a:avLst>
            </a:prstGeom>
            <a:solidFill>
              <a:srgbClr val="1E293B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5" name="Google Shape;145;p17"/>
            <p:cNvCxnSpPr/>
            <p:nvPr/>
          </p:nvCxnSpPr>
          <p:spPr>
            <a:xfrm>
              <a:off x="2000250" y="0"/>
              <a:ext cx="0" cy="24765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6" name="Google Shape;146;p17"/>
            <p:cNvCxnSpPr/>
            <p:nvPr/>
          </p:nvCxnSpPr>
          <p:spPr>
            <a:xfrm>
              <a:off x="4000500" y="0"/>
              <a:ext cx="0" cy="24765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7" name="Google Shape;147;p17"/>
            <p:cNvCxnSpPr/>
            <p:nvPr/>
          </p:nvCxnSpPr>
          <p:spPr>
            <a:xfrm>
              <a:off x="6000750" y="0"/>
              <a:ext cx="0" cy="24765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8" name="Google Shape;148;p17"/>
            <p:cNvCxnSpPr/>
            <p:nvPr/>
          </p:nvCxnSpPr>
          <p:spPr>
            <a:xfrm>
              <a:off x="0" y="38100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9" name="Google Shape;149;p17"/>
            <p:cNvCxnSpPr/>
            <p:nvPr/>
          </p:nvCxnSpPr>
          <p:spPr>
            <a:xfrm>
              <a:off x="0" y="904875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0" name="Google Shape;150;p17"/>
            <p:cNvCxnSpPr/>
            <p:nvPr/>
          </p:nvCxnSpPr>
          <p:spPr>
            <a:xfrm>
              <a:off x="0" y="14287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1" name="Google Shape;151;p17"/>
            <p:cNvCxnSpPr/>
            <p:nvPr/>
          </p:nvCxnSpPr>
          <p:spPr>
            <a:xfrm>
              <a:off x="0" y="1952625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2" name="Google Shape;152;p17"/>
            <p:cNvSpPr txBox="1"/>
            <p:nvPr/>
          </p:nvSpPr>
          <p:spPr>
            <a:xfrm>
              <a:off x="2000250" y="0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Matplotlib</a:t>
              </a:r>
              <a:endParaRPr sz="13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4000500" y="0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Seaborn</a:t>
              </a:r>
              <a:endParaRPr sz="13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6000750" y="0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Plotly</a:t>
              </a:r>
              <a:endParaRPr sz="13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142875" y="381000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Curva de aprendizaje</a:t>
              </a:r>
              <a:endParaRPr sz="1000" b="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2000250" y="381000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Alta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4000500" y="381000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Baja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6000750" y="381000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Media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142875" y="90487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Interactividad</a:t>
              </a:r>
              <a:endParaRPr sz="1000" b="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2000250" y="904875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Limitada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4000500" y="904875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Limitada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6000750" y="904875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Alta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142875" y="1428750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Estética por defecto</a:t>
              </a:r>
              <a:endParaRPr sz="1000" b="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2000250" y="1428750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Básica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4000500" y="1428750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Muy buena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6000750" y="1428750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Moderna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142875" y="1952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Ideal para</a:t>
              </a:r>
              <a:endParaRPr sz="1000" b="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2095500" y="1952625"/>
              <a:ext cx="1809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Control fino y publicaciones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4095750" y="1952625"/>
              <a:ext cx="1809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Exploración estadística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6096000" y="1952625"/>
              <a:ext cx="1809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Tableros y web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571500" y="3810000"/>
            <a:ext cx="8001000" cy="571500"/>
            <a:chOff x="0" y="0"/>
            <a:chExt cx="8001000" cy="571500"/>
          </a:xfrm>
        </p:grpSpPr>
        <p:sp>
          <p:nvSpPr>
            <p:cNvPr id="172" name="Google Shape;172;p17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name="adj" fmla="val 13333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7"/>
            <p:cNvSpPr txBox="1"/>
            <p:nvPr/>
          </p:nvSpPr>
          <p:spPr>
            <a:xfrm>
              <a:off x="190500" y="9525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00" b="0">
                  <a:solidFill>
                    <a:srgbClr val="38BDF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ALTERNATIVAS SIN CÓDIGO</a:t>
              </a:r>
              <a:endParaRPr sz="900" b="0">
                <a:solidFill>
                  <a:srgbClr val="38BDF8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s-419" sz="9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Power BI, Looker Studio, Excel</a:t>
              </a:r>
              <a:endParaRPr sz="9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05250" y="1028700"/>
            <a:ext cx="1333500" cy="228600"/>
          </a:xfrm>
          <a:prstGeom prst="roundRect">
            <a:avLst>
              <a:gd name="adj" fmla="val 50000"/>
            </a:avLst>
          </a:prstGeom>
          <a:solidFill>
            <a:srgbClr val="0369A1">
              <a:alpha val="30000"/>
            </a:srgbClr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05250" y="10287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EA5E9"/>
                </a:solidFill>
                <a:latin typeface="Fira Code"/>
                <a:ea typeface="Fira Code"/>
                <a:cs typeface="Fira Code"/>
              </a:rPr>
              <a:t>DEMO</a:t>
            </a:r>
          </a:p>
        </p:txBody>
      </p:sp>
      <p:pic>
        <p:nvPicPr>
          <p:cNvPr id="4" name="Picture 3" descr="icon_play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44000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20000"/>
            <a:ext cx="8001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Vamos al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20000"/>
            <a:ext cx="8001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Los cuatro gráficos del TP, hechos con las tres librerías.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En Plotly: zoom, valores al pasar el mouse y grupos que se ocultan desde la leyenda.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381000"/>
            <a:ext cx="1333500" cy="228600"/>
          </a:xfrm>
          <a:prstGeom prst="roundRect">
            <a:avLst>
              <a:gd name="adj" fmla="val 50000"/>
            </a:avLst>
          </a:prstGeom>
          <a:solidFill>
            <a:srgbClr val="0369A1">
              <a:alpha val="30000"/>
            </a:srgbClr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EA5E9"/>
                </a:solidFill>
                <a:latin typeface="Fira Code"/>
                <a:ea typeface="Fira Code"/>
                <a:cs typeface="Fira Code"/>
              </a:rP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714375"/>
            <a:ext cx="8001000" cy="4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¿Cuál conviene usar?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328738"/>
            <a:ext cx="8001000" cy="640080"/>
          </a:xfrm>
          <a:prstGeom prst="roundRect">
            <a:avLst>
              <a:gd name="adj" fmla="val 15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762000" y="1465898"/>
            <a:ext cx="365760" cy="365760"/>
          </a:xfrm>
          <a:prstGeom prst="ellipse">
            <a:avLst/>
          </a:prstGeom>
          <a:solidFill>
            <a:srgbClr val="0284C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" y="153905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48740" y="1328738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Quiero explorar datos rápido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1328738"/>
            <a:ext cx="18669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</a:rPr>
              <a:t>Seaborn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105978"/>
            <a:ext cx="8001000" cy="640080"/>
          </a:xfrm>
          <a:prstGeom prst="roundRect">
            <a:avLst>
              <a:gd name="adj" fmla="val 15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2000" y="2243138"/>
            <a:ext cx="365760" cy="365760"/>
          </a:xfrm>
          <a:prstGeom prst="ellipse">
            <a:avLst/>
          </a:prstGeom>
          <a:solidFill>
            <a:srgbClr val="0284C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icon_pal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52" y="2316290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48740" y="2105978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Necesito controlar cada detalle del gráfico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2105978"/>
            <a:ext cx="18669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</a:rPr>
              <a:t>Matplotlib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2883218"/>
            <a:ext cx="8001000" cy="640080"/>
          </a:xfrm>
          <a:prstGeom prst="roundRect">
            <a:avLst>
              <a:gd name="adj" fmla="val 15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762000" y="3020378"/>
            <a:ext cx="365760" cy="365760"/>
          </a:xfrm>
          <a:prstGeom prst="ellipse">
            <a:avLst/>
          </a:prstGeom>
          <a:solidFill>
            <a:srgbClr val="0284C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icon_touch_ap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" y="3093530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48740" y="2883218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El gráfico se va a ver en una pantalla o en la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2883218"/>
            <a:ext cx="18669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</a:rPr>
              <a:t>Plotly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3762375"/>
            <a:ext cx="8001000" cy="6192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2000" y="3876675"/>
            <a:ext cx="7620000" cy="390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8BDF8"/>
                </a:solidFill>
                <a:latin typeface="Fira Code SemiBold"/>
                <a:ea typeface="Fira Code SemiBold"/>
                <a:cs typeface="Fira Code SemiBold"/>
              </a:rPr>
              <a:t>NO COMPITEN, SE COMBINAN</a:t>
            </a:r>
          </a:p>
          <a:p>
            <a:pPr algn="l">
              <a:spcBef>
                <a:spcPts val="150"/>
              </a:spcBef>
            </a:pPr>
            <a:r>
              <a:rPr sz="10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Lo habitual: explorar con Seaborn, ajustar detalles con Matplotlib y presentar con Plotly.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57262" y="3067050"/>
            <a:ext cx="10101300" cy="20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957262" y="3757613"/>
            <a:ext cx="10101300" cy="8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957250" y="3257550"/>
            <a:ext cx="10101300" cy="1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Rounded Rectangle 58"/>
          <p:cNvSpPr/>
          <p:nvPr/>
        </p:nvSpPr>
        <p:spPr>
          <a:xfrm>
            <a:off x="571500" y="381000"/>
            <a:ext cx="1333500" cy="228600"/>
          </a:xfrm>
          <a:prstGeom prst="roundRect">
            <a:avLst>
              <a:gd name="adj" fmla="val 50000"/>
            </a:avLst>
          </a:prstGeom>
          <a:solidFill>
            <a:srgbClr val="0369A1">
              <a:alpha val="30000"/>
            </a:srgbClr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1500" y="3810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EA5E9"/>
                </a:solidFill>
                <a:latin typeface="Fira Code"/>
                <a:ea typeface="Fira Code"/>
                <a:cs typeface="Fira Code"/>
              </a:rPr>
              <a:t>CIERRE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" y="1028700"/>
            <a:ext cx="8001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¡Gracias!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500" y="1885950"/>
            <a:ext cx="80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38BDF8"/>
                </a:solidFill>
                <a:latin typeface="Inter"/>
                <a:ea typeface="Inter"/>
                <a:cs typeface="Inter"/>
              </a:rPr>
              <a:t>¿Preguntas?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1500" y="2743200"/>
            <a:ext cx="5257800" cy="762000"/>
          </a:xfrm>
          <a:prstGeom prst="roundRect">
            <a:avLst>
              <a:gd name="adj" fmla="val 12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0100" y="2743200"/>
            <a:ext cx="48006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Código y notebook: </a:t>
            </a:r>
            <a:r>
              <a:rPr sz="1100" b="0">
                <a:solidFill>
                  <a:srgbClr val="38BDF8"/>
                </a:solidFill>
                <a:latin typeface="Inter SemiBold"/>
                <a:ea typeface="Inter SemiBold"/>
                <a:cs typeface="Inter SemiBold"/>
              </a:rPr>
              <a:t>[link al repositorio]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Ortiz Valentino · Oliva Laureano · Ramirez Facundo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Microsoft Office PowerPoint</Application>
  <PresentationFormat>Presentación en pantalla (16:9)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Fira Code SemiBold</vt:lpstr>
      <vt:lpstr>Inter</vt:lpstr>
      <vt:lpstr>Inter ExtraBold</vt:lpstr>
      <vt:lpstr>Inter SemiBold</vt:lpstr>
      <vt:lpstr>Fira Code</vt:lpstr>
      <vt:lpstr>Inter Light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Laureano Ivan Oliva</cp:lastModifiedBy>
  <cp:revision>1</cp:revision>
  <dcterms:modified xsi:type="dcterms:W3CDTF">2026-10-03T22:11:54Z</dcterms:modified>
</cp:coreProperties>
</file>